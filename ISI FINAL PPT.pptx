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26"/>
  </p:notesMasterIdLst>
  <p:sldIdLst>
    <p:sldId id="257" r:id="rId2"/>
    <p:sldId id="289" r:id="rId3"/>
    <p:sldId id="274" r:id="rId4"/>
    <p:sldId id="259" r:id="rId5"/>
    <p:sldId id="273" r:id="rId6"/>
    <p:sldId id="260" r:id="rId7"/>
    <p:sldId id="275" r:id="rId8"/>
    <p:sldId id="261" r:id="rId9"/>
    <p:sldId id="267" r:id="rId10"/>
    <p:sldId id="276" r:id="rId11"/>
    <p:sldId id="262" r:id="rId12"/>
    <p:sldId id="269" r:id="rId13"/>
    <p:sldId id="277" r:id="rId14"/>
    <p:sldId id="263" r:id="rId15"/>
    <p:sldId id="270" r:id="rId16"/>
    <p:sldId id="278" r:id="rId17"/>
    <p:sldId id="285" r:id="rId18"/>
    <p:sldId id="287" r:id="rId19"/>
    <p:sldId id="264" r:id="rId20"/>
    <p:sldId id="279" r:id="rId21"/>
    <p:sldId id="265" r:id="rId22"/>
    <p:sldId id="280" r:id="rId23"/>
    <p:sldId id="288"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375"/>
    <a:srgbClr val="993300"/>
    <a:srgbClr val="FF5B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81D402-A25A-41D1-86AB-960EF28B5DA3}" v="5" dt="2024-09-20T06:48:53.1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ta Chavali" userId="7c668a5b24205d7d" providerId="LiveId" clId="{0E81D402-A25A-41D1-86AB-960EF28B5DA3}"/>
    <pc:docChg chg="modSld">
      <pc:chgData name="Nandita Chavali" userId="7c668a5b24205d7d" providerId="LiveId" clId="{0E81D402-A25A-41D1-86AB-960EF28B5DA3}" dt="2024-09-20T06:53:05.339" v="30" actId="20577"/>
      <pc:docMkLst>
        <pc:docMk/>
      </pc:docMkLst>
      <pc:sldChg chg="modSp mod">
        <pc:chgData name="Nandita Chavali" userId="7c668a5b24205d7d" providerId="LiveId" clId="{0E81D402-A25A-41D1-86AB-960EF28B5DA3}" dt="2024-09-20T06:53:05.339" v="30" actId="20577"/>
        <pc:sldMkLst>
          <pc:docMk/>
          <pc:sldMk cId="564102715" sldId="257"/>
        </pc:sldMkLst>
        <pc:spChg chg="mod">
          <ac:chgData name="Nandita Chavali" userId="7c668a5b24205d7d" providerId="LiveId" clId="{0E81D402-A25A-41D1-86AB-960EF28B5DA3}" dt="2024-09-20T06:53:05.339" v="30" actId="20577"/>
          <ac:spMkLst>
            <pc:docMk/>
            <pc:sldMk cId="564102715" sldId="257"/>
            <ac:spMk id="3" creationId="{22914859-8595-5AB9-C629-65F2764C5D5C}"/>
          </ac:spMkLst>
        </pc:spChg>
      </pc:sldChg>
      <pc:sldChg chg="addSp delSp modSp mod">
        <pc:chgData name="Nandita Chavali" userId="7c668a5b24205d7d" providerId="LiveId" clId="{0E81D402-A25A-41D1-86AB-960EF28B5DA3}" dt="2024-09-20T06:49:41.966" v="10" actId="404"/>
        <pc:sldMkLst>
          <pc:docMk/>
          <pc:sldMk cId="2383436554" sldId="288"/>
        </pc:sldMkLst>
        <pc:spChg chg="add del">
          <ac:chgData name="Nandita Chavali" userId="7c668a5b24205d7d" providerId="LiveId" clId="{0E81D402-A25A-41D1-86AB-960EF28B5DA3}" dt="2024-09-20T06:48:40.388" v="1" actId="21"/>
          <ac:spMkLst>
            <pc:docMk/>
            <pc:sldMk cId="2383436554" sldId="288"/>
            <ac:spMk id="3" creationId="{1DF5BCBE-F0E9-AF01-75C6-BFAA92125B52}"/>
          </ac:spMkLst>
        </pc:spChg>
        <pc:spChg chg="add mod">
          <ac:chgData name="Nandita Chavali" userId="7c668a5b24205d7d" providerId="LiveId" clId="{0E81D402-A25A-41D1-86AB-960EF28B5DA3}" dt="2024-09-20T06:49:41.966" v="10" actId="404"/>
          <ac:spMkLst>
            <pc:docMk/>
            <pc:sldMk cId="2383436554" sldId="288"/>
            <ac:spMk id="4" creationId="{E0124818-8412-55A5-0DA6-4734D38FE0FE}"/>
          </ac:spMkLst>
        </pc:spChg>
        <pc:spChg chg="add mod">
          <ac:chgData name="Nandita Chavali" userId="7c668a5b24205d7d" providerId="LiveId" clId="{0E81D402-A25A-41D1-86AB-960EF28B5DA3}" dt="2024-09-20T06:48:51.001" v="3"/>
          <ac:spMkLst>
            <pc:docMk/>
            <pc:sldMk cId="2383436554" sldId="288"/>
            <ac:spMk id="5" creationId="{1DF5BCBE-F0E9-AF01-75C6-BFAA92125B5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FDAB4-074C-43A5-BD70-1A9F8448D668}" type="datetimeFigureOut">
              <a:rPr lang="en-IN" smtClean="0"/>
              <a:t>20-09-2024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AB1CBA-CCED-4BC5-9D3F-46204D87B83A}" type="slidenum">
              <a:rPr lang="en-IN" smtClean="0"/>
              <a:t>‹#›</a:t>
            </a:fld>
            <a:endParaRPr lang="en-IN"/>
          </a:p>
        </p:txBody>
      </p:sp>
    </p:spTree>
    <p:extLst>
      <p:ext uri="{BB962C8B-B14F-4D97-AF65-F5344CB8AC3E}">
        <p14:creationId xmlns:p14="http://schemas.microsoft.com/office/powerpoint/2010/main" val="707675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2AB1CBA-CCED-4BC5-9D3F-46204D87B83A}" type="slidenum">
              <a:rPr lang="en-IN" smtClean="0"/>
              <a:t>6</a:t>
            </a:fld>
            <a:endParaRPr lang="en-IN" dirty="0"/>
          </a:p>
        </p:txBody>
      </p:sp>
    </p:spTree>
    <p:extLst>
      <p:ext uri="{BB962C8B-B14F-4D97-AF65-F5344CB8AC3E}">
        <p14:creationId xmlns:p14="http://schemas.microsoft.com/office/powerpoint/2010/main" val="902177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2E6AC6-4347-414F-A6CD-5609DAC46796}" type="datetimeFigureOut">
              <a:rPr lang="en-IN" smtClean="0"/>
              <a:t>20-09-2024</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6D7C945A-AECF-4420-A88A-B8249BBE7C95}"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669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2E6AC6-4347-414F-A6CD-5609DAC46796}"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C945A-AECF-4420-A88A-B8249BBE7C95}"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7167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2E6AC6-4347-414F-A6CD-5609DAC46796}"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C945A-AECF-4420-A88A-B8249BBE7C95}"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9583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2E6AC6-4347-414F-A6CD-5609DAC46796}" type="datetimeFigureOut">
              <a:rPr lang="en-IN" smtClean="0"/>
              <a:t>20-09-2024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7C945A-AECF-4420-A88A-B8249BBE7C95}"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7341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E6AC6-4347-414F-A6CD-5609DAC46796}" type="datetimeFigureOut">
              <a:rPr lang="en-IN" smtClean="0"/>
              <a:t>20-09-2024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7C945A-AECF-4420-A88A-B8249BBE7C95}"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9365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2E6AC6-4347-414F-A6CD-5609DAC46796}" type="datetimeFigureOut">
              <a:rPr lang="en-IN" smtClean="0"/>
              <a:t>20-09-2024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7C945A-AECF-4420-A88A-B8249BBE7C95}"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5300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2E6AC6-4347-414F-A6CD-5609DAC46796}" type="datetimeFigureOut">
              <a:rPr lang="en-IN" smtClean="0"/>
              <a:t>20-09-2024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7C945A-AECF-4420-A88A-B8249BBE7C95}" type="slidenum">
              <a:rPr lang="en-IN" smtClean="0"/>
              <a:t>‹#›</a:t>
            </a:fld>
            <a:endParaRPr lang="en-IN"/>
          </a:p>
        </p:txBody>
      </p:sp>
    </p:spTree>
    <p:extLst>
      <p:ext uri="{BB962C8B-B14F-4D97-AF65-F5344CB8AC3E}">
        <p14:creationId xmlns:p14="http://schemas.microsoft.com/office/powerpoint/2010/main" val="449963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2E6AC6-4347-414F-A6CD-5609DAC46796}" type="datetimeFigureOut">
              <a:rPr lang="en-IN" smtClean="0"/>
              <a:t>20-09-2024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7C945A-AECF-4420-A88A-B8249BBE7C95}"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7143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72E6AC6-4347-414F-A6CD-5609DAC46796}" type="datetimeFigureOut">
              <a:rPr lang="en-IN" smtClean="0"/>
              <a:t>20-09-2024</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6D7C945A-AECF-4420-A88A-B8249BBE7C95}"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73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2E6AC6-4347-414F-A6CD-5609DAC46796}"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C945A-AECF-4420-A88A-B8249BBE7C95}"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70071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2E6AC6-4347-414F-A6CD-5609DAC46796}"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C945A-AECF-4420-A88A-B8249BBE7C95}"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1756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72E6AC6-4347-414F-A6CD-5609DAC46796}" type="datetimeFigureOut">
              <a:rPr lang="en-IN" smtClean="0"/>
              <a:t>20-09-2024</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7C945A-AECF-4420-A88A-B8249BBE7C9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2568258"/>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colab.research.google.com/drive/1C8j9Jrj2GGlwfGPr_RpEhK3_ry6LCkm0?usp=sharing" TargetMode="External"/><Relationship Id="rId2" Type="http://schemas.openxmlformats.org/officeDocument/2006/relationships/hyperlink" Target="https://colab.research.google.com/drive/1u3DRWv4cAl8vzvjk9OkbTsjWfJwu6cme?usp=sharing"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914859-8595-5AB9-C629-65F2764C5D5C}"/>
              </a:ext>
            </a:extLst>
          </p:cNvPr>
          <p:cNvSpPr txBox="1"/>
          <p:nvPr/>
        </p:nvSpPr>
        <p:spPr>
          <a:xfrm>
            <a:off x="2689663" y="219027"/>
            <a:ext cx="6097712" cy="5940088"/>
          </a:xfrm>
          <a:prstGeom prst="rect">
            <a:avLst/>
          </a:prstGeom>
          <a:noFill/>
        </p:spPr>
        <p:txBody>
          <a:bodyPr wrap="square">
            <a:spAutoFit/>
          </a:bodyPr>
          <a:lstStyle/>
          <a:p>
            <a:pPr algn="ctr" rtl="0">
              <a:spcBef>
                <a:spcPts val="0"/>
              </a:spcBef>
              <a:spcAft>
                <a:spcPts val="0"/>
              </a:spcAft>
            </a:pPr>
            <a:r>
              <a:rPr lang="en-IN" sz="3200" b="1" i="0" u="none" strike="noStrike">
                <a:solidFill>
                  <a:srgbClr val="000000"/>
                </a:solidFill>
                <a:effectLst/>
                <a:latin typeface="Arial" panose="020B0604020202020204" pitchFamily="34" charset="0"/>
              </a:rPr>
              <a:t>ISI Training </a:t>
            </a:r>
            <a:r>
              <a:rPr lang="en-IN" sz="3200" b="1" i="0" u="none" strike="noStrike" dirty="0">
                <a:solidFill>
                  <a:srgbClr val="000000"/>
                </a:solidFill>
                <a:effectLst/>
                <a:latin typeface="Arial" panose="020B0604020202020204" pitchFamily="34" charset="0"/>
              </a:rPr>
              <a:t>Project</a:t>
            </a:r>
            <a:endParaRPr lang="en-IN" b="0" dirty="0">
              <a:effectLst/>
            </a:endParaRPr>
          </a:p>
          <a:p>
            <a:pPr algn="ctr" rtl="0">
              <a:spcBef>
                <a:spcPts val="0"/>
              </a:spcBef>
              <a:spcAft>
                <a:spcPts val="0"/>
              </a:spcAft>
            </a:pPr>
            <a:r>
              <a:rPr lang="en-IN" sz="2400" b="0" i="0" u="none" strike="noStrike" dirty="0">
                <a:solidFill>
                  <a:srgbClr val="000000"/>
                </a:solidFill>
                <a:effectLst/>
                <a:latin typeface="Arial" panose="020B0604020202020204" pitchFamily="34" charset="0"/>
              </a:rPr>
              <a:t>Topic : </a:t>
            </a:r>
            <a:endParaRPr lang="en-IN" sz="2400" b="0" dirty="0">
              <a:effectLst/>
            </a:endParaRPr>
          </a:p>
          <a:p>
            <a:pPr algn="ctr" rtl="0">
              <a:spcBef>
                <a:spcPts val="0"/>
              </a:spcBef>
              <a:spcAft>
                <a:spcPts val="0"/>
              </a:spcAft>
            </a:pPr>
            <a:r>
              <a:rPr lang="en-IN" sz="2400" b="0" i="0" u="none" strike="noStrike" dirty="0">
                <a:solidFill>
                  <a:srgbClr val="000000"/>
                </a:solidFill>
                <a:effectLst/>
                <a:latin typeface="Arial" panose="020B0604020202020204" pitchFamily="34" charset="0"/>
              </a:rPr>
              <a:t>Project Submitted to </a:t>
            </a:r>
            <a:endParaRPr lang="en-IN" sz="2400" b="0" dirty="0">
              <a:effectLst/>
            </a:endParaRPr>
          </a:p>
          <a:p>
            <a:pPr algn="ctr" rtl="0">
              <a:spcBef>
                <a:spcPts val="0"/>
              </a:spcBef>
              <a:spcAft>
                <a:spcPts val="0"/>
              </a:spcAft>
            </a:pPr>
            <a:r>
              <a:rPr lang="en-IN" sz="2400" b="0" i="0" u="none" strike="noStrike" dirty="0">
                <a:solidFill>
                  <a:srgbClr val="000000"/>
                </a:solidFill>
                <a:effectLst/>
                <a:latin typeface="Arial" panose="020B0604020202020204" pitchFamily="34" charset="0"/>
              </a:rPr>
              <a:t>GITAM School Of Science, GITAM University Hyderabad</a:t>
            </a:r>
            <a:endParaRPr lang="en-IN" sz="2400" b="0" dirty="0">
              <a:effectLst/>
            </a:endParaRPr>
          </a:p>
          <a:p>
            <a:pPr algn="ctr" rtl="0">
              <a:spcBef>
                <a:spcPts val="0"/>
              </a:spcBef>
              <a:spcAft>
                <a:spcPts val="0"/>
              </a:spcAft>
            </a:pPr>
            <a:r>
              <a:rPr lang="en-IN" sz="2400" b="0" i="0" u="none" strike="noStrike" dirty="0">
                <a:solidFill>
                  <a:srgbClr val="000000"/>
                </a:solidFill>
                <a:effectLst/>
                <a:latin typeface="Arial" panose="020B0604020202020204" pitchFamily="34" charset="0"/>
              </a:rPr>
              <a:t>By</a:t>
            </a:r>
            <a:endParaRPr lang="en-IN" sz="2400" b="0" dirty="0">
              <a:effectLst/>
            </a:endParaRPr>
          </a:p>
          <a:p>
            <a:pPr algn="ctr" rtl="0">
              <a:spcBef>
                <a:spcPts val="0"/>
              </a:spcBef>
              <a:spcAft>
                <a:spcPts val="0"/>
              </a:spcAft>
            </a:pPr>
            <a:br>
              <a:rPr lang="en-IN" sz="2400" b="0" dirty="0">
                <a:effectLst/>
              </a:rPr>
            </a:br>
            <a:r>
              <a:rPr lang="en-IN" sz="2400" b="0" i="0" u="none" strike="noStrike" dirty="0">
                <a:solidFill>
                  <a:srgbClr val="000000"/>
                </a:solidFill>
                <a:effectLst/>
                <a:latin typeface="Arial" panose="020B0604020202020204" pitchFamily="34" charset="0"/>
              </a:rPr>
              <a:t>C. Nandita – 2023001442</a:t>
            </a:r>
          </a:p>
          <a:p>
            <a:pPr algn="ctr"/>
            <a:r>
              <a:rPr lang="en-IN" sz="2400" b="0" i="0" u="none" strike="noStrike" dirty="0">
                <a:solidFill>
                  <a:srgbClr val="000000"/>
                </a:solidFill>
                <a:effectLst/>
                <a:latin typeface="Arial" panose="020B0604020202020204" pitchFamily="34" charset="0"/>
              </a:rPr>
              <a:t>M. Sai Dheeraj - 2023002482</a:t>
            </a:r>
            <a:endParaRPr lang="en-IN" sz="2400" b="0" dirty="0">
              <a:effectLst/>
            </a:endParaRPr>
          </a:p>
          <a:p>
            <a:pPr algn="ctr" rtl="0">
              <a:spcBef>
                <a:spcPts val="0"/>
              </a:spcBef>
              <a:spcAft>
                <a:spcPts val="0"/>
              </a:spcAft>
            </a:pPr>
            <a:r>
              <a:rPr lang="en-IN" sz="2400" b="0" i="0" u="none" strike="noStrike" dirty="0">
                <a:solidFill>
                  <a:srgbClr val="000000"/>
                </a:solidFill>
                <a:effectLst/>
                <a:latin typeface="Arial" panose="020B0604020202020204" pitchFamily="34" charset="0"/>
              </a:rPr>
              <a:t>K. Rithika - 2023002986</a:t>
            </a:r>
            <a:endParaRPr lang="en-IN" sz="2400" b="0" dirty="0">
              <a:effectLst/>
            </a:endParaRPr>
          </a:p>
          <a:p>
            <a:pPr algn="ctr" rtl="0">
              <a:spcBef>
                <a:spcPts val="0"/>
              </a:spcBef>
              <a:spcAft>
                <a:spcPts val="0"/>
              </a:spcAft>
            </a:pPr>
            <a:r>
              <a:rPr lang="en-IN" sz="2400" b="0" i="0" u="none" strike="noStrike" dirty="0" err="1">
                <a:solidFill>
                  <a:srgbClr val="000000"/>
                </a:solidFill>
                <a:effectLst/>
                <a:latin typeface="Arial" panose="020B0604020202020204" pitchFamily="34" charset="0"/>
              </a:rPr>
              <a:t>Shazia</a:t>
            </a:r>
            <a:r>
              <a:rPr lang="en-IN" sz="2400" b="0" i="0" u="none" strike="noStrike" dirty="0">
                <a:solidFill>
                  <a:srgbClr val="000000"/>
                </a:solidFill>
                <a:effectLst/>
                <a:latin typeface="Arial" panose="020B0604020202020204" pitchFamily="34" charset="0"/>
              </a:rPr>
              <a:t> - 2023003578</a:t>
            </a:r>
            <a:endParaRPr lang="en-IN" sz="2400" b="0" dirty="0">
              <a:effectLst/>
            </a:endParaRPr>
          </a:p>
          <a:p>
            <a:pPr algn="ctr" rtl="0">
              <a:spcBef>
                <a:spcPts val="0"/>
              </a:spcBef>
              <a:spcAft>
                <a:spcPts val="0"/>
              </a:spcAft>
            </a:pPr>
            <a:br>
              <a:rPr lang="en-IN" sz="2400" b="0" dirty="0">
                <a:effectLst/>
              </a:rPr>
            </a:br>
            <a:r>
              <a:rPr lang="en-IN" sz="2400" b="0" i="0" u="none" strike="noStrike" dirty="0">
                <a:solidFill>
                  <a:srgbClr val="000000"/>
                </a:solidFill>
                <a:effectLst/>
                <a:latin typeface="Arial" panose="020B0604020202020204" pitchFamily="34" charset="0"/>
              </a:rPr>
              <a:t>MSc. Data Science II Year</a:t>
            </a:r>
            <a:endParaRPr lang="en-IN" sz="2400" b="0" dirty="0">
              <a:effectLst/>
            </a:endParaRPr>
          </a:p>
          <a:p>
            <a:pPr algn="ctr" rtl="0">
              <a:spcBef>
                <a:spcPts val="0"/>
              </a:spcBef>
              <a:spcAft>
                <a:spcPts val="0"/>
              </a:spcAft>
            </a:pPr>
            <a:r>
              <a:rPr lang="en-IN" sz="2400" b="0" i="0" u="none" strike="noStrike" dirty="0">
                <a:solidFill>
                  <a:srgbClr val="000000"/>
                </a:solidFill>
                <a:effectLst/>
                <a:latin typeface="Arial" panose="020B0604020202020204" pitchFamily="34" charset="0"/>
              </a:rPr>
              <a:t>2024-2025</a:t>
            </a:r>
            <a:endParaRPr lang="en-IN" sz="2400" b="0" dirty="0">
              <a:effectLst/>
            </a:endParaRPr>
          </a:p>
          <a:p>
            <a:br>
              <a:rPr lang="en-IN" dirty="0"/>
            </a:br>
            <a:endParaRPr lang="en-IN" dirty="0"/>
          </a:p>
        </p:txBody>
      </p:sp>
      <p:pic>
        <p:nvPicPr>
          <p:cNvPr id="1026" name="Picture 2">
            <a:extLst>
              <a:ext uri="{FF2B5EF4-FFF2-40B4-BE49-F238E27FC236}">
                <a16:creationId xmlns:a16="http://schemas.microsoft.com/office/drawing/2014/main" id="{58C34E9F-CD4C-F224-26B2-7AFAD754B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429000"/>
            <a:ext cx="2379960" cy="23322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5067385-B256-8E23-57E8-63848D5CF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4499" y="3429000"/>
            <a:ext cx="2501209" cy="2249351"/>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102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21DE1B-2281-764A-FFA4-FBFC4F3F3217}"/>
              </a:ext>
            </a:extLst>
          </p:cNvPr>
          <p:cNvSpPr txBox="1"/>
          <p:nvPr/>
        </p:nvSpPr>
        <p:spPr>
          <a:xfrm>
            <a:off x="-688258" y="309992"/>
            <a:ext cx="7002665" cy="523220"/>
          </a:xfrm>
          <a:prstGeom prst="rect">
            <a:avLst/>
          </a:prstGeom>
          <a:noFill/>
        </p:spPr>
        <p:txBody>
          <a:bodyPr wrap="square" rtlCol="0">
            <a:spAutoFit/>
          </a:bodyPr>
          <a:lstStyle/>
          <a:p>
            <a:pPr algn="ctr"/>
            <a:r>
              <a:rPr lang="en-IN" sz="2800" b="1" dirty="0">
                <a:effectLst>
                  <a:outerShdw blurRad="38100" dist="38100" dir="2700000" algn="tl">
                    <a:srgbClr val="000000">
                      <a:alpha val="43137"/>
                    </a:srgbClr>
                  </a:outerShdw>
                </a:effectLst>
                <a:latin typeface="+mj-lt"/>
              </a:rPr>
              <a:t>PROBLEM STATEMENT</a:t>
            </a:r>
          </a:p>
        </p:txBody>
      </p:sp>
      <p:sp>
        <p:nvSpPr>
          <p:cNvPr id="2" name="TextBox 1">
            <a:extLst>
              <a:ext uri="{FF2B5EF4-FFF2-40B4-BE49-F238E27FC236}">
                <a16:creationId xmlns:a16="http://schemas.microsoft.com/office/drawing/2014/main" id="{E496D9CC-8B56-E8A2-F49B-8549AB6D9C77}"/>
              </a:ext>
            </a:extLst>
          </p:cNvPr>
          <p:cNvSpPr txBox="1"/>
          <p:nvPr/>
        </p:nvSpPr>
        <p:spPr>
          <a:xfrm>
            <a:off x="655166" y="1083967"/>
            <a:ext cx="10155148" cy="1569660"/>
          </a:xfrm>
          <a:prstGeom prst="rect">
            <a:avLst/>
          </a:prstGeom>
          <a:noFill/>
        </p:spPr>
        <p:txBody>
          <a:bodyPr wrap="square">
            <a:spAutoFit/>
          </a:bodyPr>
          <a:lstStyle/>
          <a:p>
            <a:pPr rtl="0">
              <a:spcBef>
                <a:spcPts val="0"/>
              </a:spcBef>
              <a:spcAft>
                <a:spcPts val="0"/>
              </a:spcAft>
            </a:pPr>
            <a:r>
              <a:rPr lang="en-US" sz="2400" b="0" i="0" u="none" strike="noStrike" dirty="0">
                <a:solidFill>
                  <a:srgbClr val="000000"/>
                </a:solidFill>
                <a:effectLst/>
                <a:latin typeface="+mj-lt"/>
              </a:rPr>
              <a:t>This project focuses on analyzing data from a restaurant to find ways to increase revenue. By looking at customer habits, and busy times, we aim to identify trends that can help the restaurant make better decisions.</a:t>
            </a:r>
            <a:br>
              <a:rPr lang="en-US" sz="2400" dirty="0"/>
            </a:br>
            <a:endParaRPr lang="en-IN" sz="2400" dirty="0"/>
          </a:p>
        </p:txBody>
      </p:sp>
      <p:sp>
        <p:nvSpPr>
          <p:cNvPr id="5" name="Title 1">
            <a:extLst>
              <a:ext uri="{FF2B5EF4-FFF2-40B4-BE49-F238E27FC236}">
                <a16:creationId xmlns:a16="http://schemas.microsoft.com/office/drawing/2014/main" id="{DD455137-0E33-4F6F-15BB-A1DDBA2980A2}"/>
              </a:ext>
            </a:extLst>
          </p:cNvPr>
          <p:cNvSpPr txBox="1">
            <a:spLocks/>
          </p:cNvSpPr>
          <p:nvPr/>
        </p:nvSpPr>
        <p:spPr>
          <a:xfrm>
            <a:off x="733360" y="2904383"/>
            <a:ext cx="9603275" cy="664728"/>
          </a:xfrm>
          <a:prstGeom prst="rect">
            <a:avLst/>
          </a:prstGeom>
        </p:spPr>
        <p:txBody>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sz="2800" b="1"/>
              <a:t>METHODOLOGY</a:t>
            </a:r>
            <a:endParaRPr lang="en-IN" sz="2800" b="1" dirty="0"/>
          </a:p>
        </p:txBody>
      </p:sp>
      <p:sp>
        <p:nvSpPr>
          <p:cNvPr id="6" name="TextBox 5">
            <a:extLst>
              <a:ext uri="{FF2B5EF4-FFF2-40B4-BE49-F238E27FC236}">
                <a16:creationId xmlns:a16="http://schemas.microsoft.com/office/drawing/2014/main" id="{3D77B4CA-3392-E263-33F9-EC18C555B175}"/>
              </a:ext>
            </a:extLst>
          </p:cNvPr>
          <p:cNvSpPr txBox="1"/>
          <p:nvPr/>
        </p:nvSpPr>
        <p:spPr>
          <a:xfrm>
            <a:off x="655166" y="3569111"/>
            <a:ext cx="10307802" cy="1938992"/>
          </a:xfrm>
          <a:prstGeom prst="rect">
            <a:avLst/>
          </a:prstGeom>
          <a:noFill/>
        </p:spPr>
        <p:txBody>
          <a:bodyPr wrap="square" rtlCol="0">
            <a:spAutoFit/>
          </a:bodyPr>
          <a:lstStyle/>
          <a:p>
            <a:pPr marL="285750" indent="-285750">
              <a:buFont typeface="Arial" panose="020B0604020202020204" pitchFamily="34" charset="0"/>
              <a:buChar char="•"/>
            </a:pPr>
            <a:r>
              <a:rPr lang="en-IN" sz="2400" dirty="0"/>
              <a:t>We have used linear regression algorithm to analyse the relationship between the feature “Bill” and other features to understand what affects the revenue of the restaurant. </a:t>
            </a:r>
          </a:p>
          <a:p>
            <a:pPr marL="285750" indent="-285750">
              <a:buFont typeface="Arial" panose="020B0604020202020204" pitchFamily="34" charset="0"/>
              <a:buChar char="•"/>
            </a:pPr>
            <a:r>
              <a:rPr lang="en-IN" sz="2400" dirty="0"/>
              <a:t>The method we used is Ordinary Least Squares to identify the best fit for the given data. </a:t>
            </a:r>
          </a:p>
        </p:txBody>
      </p:sp>
    </p:spTree>
    <p:extLst>
      <p:ext uri="{BB962C8B-B14F-4D97-AF65-F5344CB8AC3E}">
        <p14:creationId xmlns:p14="http://schemas.microsoft.com/office/powerpoint/2010/main" val="75535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27716-014F-50BB-195F-D34EE3DC8521}"/>
              </a:ext>
            </a:extLst>
          </p:cNvPr>
          <p:cNvSpPr>
            <a:spLocks noGrp="1"/>
          </p:cNvSpPr>
          <p:nvPr>
            <p:ph type="title"/>
          </p:nvPr>
        </p:nvSpPr>
        <p:spPr/>
        <p:txBody>
          <a:bodyPr/>
          <a:lstStyle/>
          <a:p>
            <a:r>
              <a:rPr lang="en-IN" b="1" dirty="0"/>
              <a:t>DATA DESCRIPTION</a:t>
            </a:r>
          </a:p>
        </p:txBody>
      </p:sp>
      <p:sp>
        <p:nvSpPr>
          <p:cNvPr id="3" name="TextBox 2">
            <a:extLst>
              <a:ext uri="{FF2B5EF4-FFF2-40B4-BE49-F238E27FC236}">
                <a16:creationId xmlns:a16="http://schemas.microsoft.com/office/drawing/2014/main" id="{C1E447AC-7EFB-9C66-61AA-12FDAF203EB0}"/>
              </a:ext>
            </a:extLst>
          </p:cNvPr>
          <p:cNvSpPr txBox="1"/>
          <p:nvPr/>
        </p:nvSpPr>
        <p:spPr>
          <a:xfrm>
            <a:off x="1451579" y="2090141"/>
            <a:ext cx="9177092" cy="1015663"/>
          </a:xfrm>
          <a:prstGeom prst="rect">
            <a:avLst/>
          </a:prstGeom>
          <a:noFill/>
        </p:spPr>
        <p:txBody>
          <a:bodyPr wrap="square" rtlCol="0">
            <a:spAutoFit/>
          </a:bodyPr>
          <a:lstStyle/>
          <a:p>
            <a:pPr marL="285750" indent="-285750">
              <a:buFont typeface="Arial" panose="020B0604020202020204" pitchFamily="34" charset="0"/>
              <a:buChar char="•"/>
            </a:pPr>
            <a:r>
              <a:rPr lang="en-IN" sz="2000" dirty="0"/>
              <a:t>We were provided with the Restaurant dataset which contains the data of 5 days.</a:t>
            </a:r>
          </a:p>
          <a:p>
            <a:pPr marL="285750" indent="-285750">
              <a:buFont typeface="Arial" panose="020B0604020202020204" pitchFamily="34" charset="0"/>
              <a:buChar char="•"/>
            </a:pPr>
            <a:r>
              <a:rPr lang="en-IN" sz="2000" dirty="0"/>
              <a:t>The following are the features of the dataset:</a:t>
            </a:r>
          </a:p>
          <a:p>
            <a:r>
              <a:rPr lang="en-US" sz="2000" dirty="0"/>
              <a:t>   </a:t>
            </a:r>
            <a:endParaRPr lang="en-IN" sz="2000" dirty="0"/>
          </a:p>
        </p:txBody>
      </p:sp>
      <p:pic>
        <p:nvPicPr>
          <p:cNvPr id="5" name="Picture 4">
            <a:extLst>
              <a:ext uri="{FF2B5EF4-FFF2-40B4-BE49-F238E27FC236}">
                <a16:creationId xmlns:a16="http://schemas.microsoft.com/office/drawing/2014/main" id="{061384D5-767E-CD32-9DAF-3AF2744548B5}"/>
              </a:ext>
            </a:extLst>
          </p:cNvPr>
          <p:cNvPicPr>
            <a:picLocks noChangeAspect="1"/>
          </p:cNvPicPr>
          <p:nvPr/>
        </p:nvPicPr>
        <p:blipFill>
          <a:blip r:embed="rId2"/>
          <a:stretch>
            <a:fillRect/>
          </a:stretch>
        </p:blipFill>
        <p:spPr>
          <a:xfrm>
            <a:off x="1696395" y="3105804"/>
            <a:ext cx="2216843" cy="2614739"/>
          </a:xfrm>
          <a:prstGeom prst="rect">
            <a:avLst/>
          </a:prstGeom>
        </p:spPr>
      </p:pic>
      <p:sp>
        <p:nvSpPr>
          <p:cNvPr id="6" name="TextBox 5">
            <a:extLst>
              <a:ext uri="{FF2B5EF4-FFF2-40B4-BE49-F238E27FC236}">
                <a16:creationId xmlns:a16="http://schemas.microsoft.com/office/drawing/2014/main" id="{B3C25673-057E-5D06-C863-EFFC6AF05A0B}"/>
              </a:ext>
            </a:extLst>
          </p:cNvPr>
          <p:cNvSpPr txBox="1"/>
          <p:nvPr/>
        </p:nvSpPr>
        <p:spPr>
          <a:xfrm>
            <a:off x="5348749" y="3429000"/>
            <a:ext cx="6154993" cy="1323439"/>
          </a:xfrm>
          <a:prstGeom prst="rect">
            <a:avLst/>
          </a:prstGeom>
          <a:noFill/>
        </p:spPr>
        <p:txBody>
          <a:bodyPr wrap="square" rtlCol="0">
            <a:spAutoFit/>
          </a:bodyPr>
          <a:lstStyle/>
          <a:p>
            <a:r>
              <a:rPr lang="en-IN" sz="2000" b="1" dirty="0"/>
              <a:t>Numerical Columns: </a:t>
            </a:r>
            <a:r>
              <a:rPr lang="en-IN" sz="2000" dirty="0"/>
              <a:t> Arrival_time, Clock_arrival_time, Number_of_persons, children, Time_spent, Bill,  Adults</a:t>
            </a:r>
          </a:p>
          <a:p>
            <a:endParaRPr lang="en-IN" sz="2000" dirty="0"/>
          </a:p>
          <a:p>
            <a:r>
              <a:rPr lang="en-IN" sz="2000" b="1" dirty="0"/>
              <a:t>Categorical Columns: </a:t>
            </a:r>
            <a:r>
              <a:rPr lang="en-IN" sz="2000" dirty="0"/>
              <a:t>UnReserved, Reserved</a:t>
            </a:r>
            <a:endParaRPr lang="en-IN" dirty="0"/>
          </a:p>
        </p:txBody>
      </p:sp>
    </p:spTree>
    <p:extLst>
      <p:ext uri="{BB962C8B-B14F-4D97-AF65-F5344CB8AC3E}">
        <p14:creationId xmlns:p14="http://schemas.microsoft.com/office/powerpoint/2010/main" val="17739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21DE1B-2281-764A-FFA4-FBFC4F3F3217}"/>
              </a:ext>
            </a:extLst>
          </p:cNvPr>
          <p:cNvSpPr txBox="1"/>
          <p:nvPr/>
        </p:nvSpPr>
        <p:spPr>
          <a:xfrm>
            <a:off x="1173131" y="339489"/>
            <a:ext cx="9349483" cy="646331"/>
          </a:xfrm>
          <a:prstGeom prst="rect">
            <a:avLst/>
          </a:prstGeom>
          <a:noFill/>
        </p:spPr>
        <p:txBody>
          <a:bodyPr wrap="square" rtlCol="0">
            <a:spAutoFit/>
          </a:bodyPr>
          <a:lstStyle/>
          <a:p>
            <a:pPr algn="ctr"/>
            <a:r>
              <a:rPr lang="en-IN" sz="3600" b="1" dirty="0">
                <a:effectLst>
                  <a:outerShdw blurRad="38100" dist="38100" dir="2700000" algn="tl">
                    <a:srgbClr val="000000">
                      <a:alpha val="43137"/>
                    </a:srgbClr>
                  </a:outerShdw>
                </a:effectLst>
              </a:rPr>
              <a:t>Before and After Data Cleaning</a:t>
            </a:r>
          </a:p>
        </p:txBody>
      </p:sp>
      <p:pic>
        <p:nvPicPr>
          <p:cNvPr id="4" name="Picture 3">
            <a:extLst>
              <a:ext uri="{FF2B5EF4-FFF2-40B4-BE49-F238E27FC236}">
                <a16:creationId xmlns:a16="http://schemas.microsoft.com/office/drawing/2014/main" id="{DEA61F85-030A-F36C-7129-42EB0C809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294" y="1288753"/>
            <a:ext cx="3623357" cy="4231380"/>
          </a:xfrm>
          <a:prstGeom prst="rect">
            <a:avLst/>
          </a:prstGeom>
          <a:ln w="19050">
            <a:solidFill>
              <a:schemeClr val="tx1"/>
            </a:solidFill>
          </a:ln>
        </p:spPr>
      </p:pic>
      <p:pic>
        <p:nvPicPr>
          <p:cNvPr id="8" name="Picture 7">
            <a:extLst>
              <a:ext uri="{FF2B5EF4-FFF2-40B4-BE49-F238E27FC236}">
                <a16:creationId xmlns:a16="http://schemas.microsoft.com/office/drawing/2014/main" id="{003D8356-438B-58FF-A3FF-377DEC6FD7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9019" y="1288753"/>
            <a:ext cx="4178710" cy="4231380"/>
          </a:xfrm>
          <a:prstGeom prst="rect">
            <a:avLst/>
          </a:prstGeom>
          <a:ln w="19050">
            <a:solidFill>
              <a:schemeClr val="tx1"/>
            </a:solidFill>
          </a:ln>
        </p:spPr>
      </p:pic>
    </p:spTree>
    <p:extLst>
      <p:ext uri="{BB962C8B-B14F-4D97-AF65-F5344CB8AC3E}">
        <p14:creationId xmlns:p14="http://schemas.microsoft.com/office/powerpoint/2010/main" val="1748573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7ACF1-B705-4232-D4C3-3038A2CAA59F}"/>
              </a:ext>
            </a:extLst>
          </p:cNvPr>
          <p:cNvSpPr>
            <a:spLocks noGrp="1"/>
          </p:cNvSpPr>
          <p:nvPr>
            <p:ph type="title"/>
          </p:nvPr>
        </p:nvSpPr>
        <p:spPr/>
        <p:txBody>
          <a:bodyPr/>
          <a:lstStyle/>
          <a:p>
            <a:r>
              <a:rPr lang="en-IN" b="1" dirty="0"/>
              <a:t>OBJECTIVES</a:t>
            </a:r>
          </a:p>
        </p:txBody>
      </p:sp>
      <p:sp>
        <p:nvSpPr>
          <p:cNvPr id="3" name="TextBox 2">
            <a:extLst>
              <a:ext uri="{FF2B5EF4-FFF2-40B4-BE49-F238E27FC236}">
                <a16:creationId xmlns:a16="http://schemas.microsoft.com/office/drawing/2014/main" id="{E07040BE-DEF9-3DE0-EFAB-E16CCC9DA9FE}"/>
              </a:ext>
            </a:extLst>
          </p:cNvPr>
          <p:cNvSpPr txBox="1"/>
          <p:nvPr/>
        </p:nvSpPr>
        <p:spPr>
          <a:xfrm>
            <a:off x="1553496" y="2094271"/>
            <a:ext cx="9350477"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Calculating waiting time</a:t>
            </a:r>
          </a:p>
          <a:p>
            <a:pPr marL="285750" indent="-285750">
              <a:buFont typeface="Arial" panose="020B0604020202020204" pitchFamily="34" charset="0"/>
              <a:buChar char="•"/>
            </a:pPr>
            <a:r>
              <a:rPr lang="en-US" sz="2400" dirty="0"/>
              <a:t>Reserved + Number of persons vs Bill </a:t>
            </a:r>
          </a:p>
          <a:p>
            <a:pPr marL="285750" indent="-285750">
              <a:buFont typeface="Arial" panose="020B0604020202020204" pitchFamily="34" charset="0"/>
              <a:buChar char="•"/>
            </a:pPr>
            <a:r>
              <a:rPr lang="en-US" sz="2400" dirty="0"/>
              <a:t>Number of Adults vs Bill</a:t>
            </a:r>
          </a:p>
          <a:p>
            <a:pPr marL="285750" indent="-285750">
              <a:buFont typeface="Arial" panose="020B0604020202020204" pitchFamily="34" charset="0"/>
              <a:buChar char="•"/>
            </a:pPr>
            <a:r>
              <a:rPr lang="en-US" sz="2400" dirty="0"/>
              <a:t>Number of Children vs Bill </a:t>
            </a:r>
          </a:p>
          <a:p>
            <a:pPr marL="285750" indent="-285750">
              <a:buFont typeface="Arial" panose="020B0604020202020204" pitchFamily="34" charset="0"/>
              <a:buChar char="•"/>
            </a:pPr>
            <a:r>
              <a:rPr lang="en-US" sz="2400" dirty="0"/>
              <a:t>Calculating maximum and average waiting time</a:t>
            </a:r>
          </a:p>
          <a:p>
            <a:pPr marL="285750" indent="-285750">
              <a:buFont typeface="Arial" panose="020B0604020202020204" pitchFamily="34" charset="0"/>
              <a:buChar char="•"/>
            </a:pPr>
            <a:r>
              <a:rPr lang="en-US" sz="2400" dirty="0"/>
              <a:t>Calculating peak time when there are maximum number of customers </a:t>
            </a:r>
          </a:p>
          <a:p>
            <a:pPr marL="285750" indent="-285750">
              <a:buFont typeface="Arial" panose="020B0604020202020204" pitchFamily="34" charset="0"/>
              <a:buChar char="•"/>
            </a:pPr>
            <a:r>
              <a:rPr lang="en-US" sz="2400" dirty="0"/>
              <a:t>Calculating highest bill for each day </a:t>
            </a:r>
          </a:p>
          <a:p>
            <a:pPr marL="285750" indent="-285750">
              <a:buFont typeface="Arial" panose="020B0604020202020204" pitchFamily="34" charset="0"/>
              <a:buChar char="•"/>
            </a:pPr>
            <a:r>
              <a:rPr lang="en-US" sz="2400" dirty="0"/>
              <a:t>Calculating the number of reserved and non-reserved tables for each day</a:t>
            </a:r>
            <a:endParaRPr lang="en-IN" sz="2400" dirty="0"/>
          </a:p>
        </p:txBody>
      </p:sp>
    </p:spTree>
    <p:extLst>
      <p:ext uri="{BB962C8B-B14F-4D97-AF65-F5344CB8AC3E}">
        <p14:creationId xmlns:p14="http://schemas.microsoft.com/office/powerpoint/2010/main" val="2495987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EA3766-7633-D318-0745-5AB6604DD6CA}"/>
              </a:ext>
            </a:extLst>
          </p:cNvPr>
          <p:cNvSpPr txBox="1"/>
          <p:nvPr/>
        </p:nvSpPr>
        <p:spPr>
          <a:xfrm>
            <a:off x="1045799" y="151616"/>
            <a:ext cx="10339005" cy="646331"/>
          </a:xfrm>
          <a:prstGeom prst="rect">
            <a:avLst/>
          </a:prstGeom>
          <a:noFill/>
        </p:spPr>
        <p:txBody>
          <a:bodyPr wrap="square" rtlCol="0">
            <a:spAutoFit/>
          </a:bodyPr>
          <a:lstStyle/>
          <a:p>
            <a:pPr algn="ctr"/>
            <a:r>
              <a:rPr lang="en-IN" sz="3600" b="1" dirty="0">
                <a:effectLst>
                  <a:outerShdw blurRad="38100" dist="38100" dir="2700000" algn="tl">
                    <a:srgbClr val="000000">
                      <a:alpha val="43137"/>
                    </a:srgbClr>
                  </a:outerShdw>
                </a:effectLst>
              </a:rPr>
              <a:t>Adding Waiting Time</a:t>
            </a:r>
          </a:p>
        </p:txBody>
      </p:sp>
      <p:pic>
        <p:nvPicPr>
          <p:cNvPr id="11" name="Picture 10">
            <a:extLst>
              <a:ext uri="{FF2B5EF4-FFF2-40B4-BE49-F238E27FC236}">
                <a16:creationId xmlns:a16="http://schemas.microsoft.com/office/drawing/2014/main" id="{F466FB04-8604-2ECF-D5CB-BBAACAB2E62C}"/>
              </a:ext>
            </a:extLst>
          </p:cNvPr>
          <p:cNvPicPr>
            <a:picLocks noChangeAspect="1"/>
          </p:cNvPicPr>
          <p:nvPr/>
        </p:nvPicPr>
        <p:blipFill>
          <a:blip r:embed="rId3"/>
          <a:stretch>
            <a:fillRect/>
          </a:stretch>
        </p:blipFill>
        <p:spPr>
          <a:xfrm>
            <a:off x="761601" y="1451238"/>
            <a:ext cx="5017987" cy="1781699"/>
          </a:xfrm>
          <a:prstGeom prst="rect">
            <a:avLst/>
          </a:prstGeom>
          <a:ln w="19050">
            <a:solidFill>
              <a:schemeClr val="tx1"/>
            </a:solidFill>
          </a:ln>
        </p:spPr>
      </p:pic>
      <p:sp>
        <p:nvSpPr>
          <p:cNvPr id="12" name="TextBox 11">
            <a:extLst>
              <a:ext uri="{FF2B5EF4-FFF2-40B4-BE49-F238E27FC236}">
                <a16:creationId xmlns:a16="http://schemas.microsoft.com/office/drawing/2014/main" id="{1A3756A1-0194-F498-4DF2-E3A7B7DFE17C}"/>
              </a:ext>
            </a:extLst>
          </p:cNvPr>
          <p:cNvSpPr txBox="1"/>
          <p:nvPr/>
        </p:nvSpPr>
        <p:spPr>
          <a:xfrm>
            <a:off x="761601" y="970704"/>
            <a:ext cx="940642" cy="400110"/>
          </a:xfrm>
          <a:prstGeom prst="rect">
            <a:avLst/>
          </a:prstGeom>
          <a:noFill/>
        </p:spPr>
        <p:txBody>
          <a:bodyPr wrap="none" rtlCol="0">
            <a:spAutoFit/>
          </a:bodyPr>
          <a:lstStyle/>
          <a:p>
            <a:r>
              <a:rPr lang="en-IN" sz="2000" dirty="0"/>
              <a:t>Day - 1</a:t>
            </a:r>
          </a:p>
        </p:txBody>
      </p:sp>
      <p:pic>
        <p:nvPicPr>
          <p:cNvPr id="14" name="Picture 13">
            <a:extLst>
              <a:ext uri="{FF2B5EF4-FFF2-40B4-BE49-F238E27FC236}">
                <a16:creationId xmlns:a16="http://schemas.microsoft.com/office/drawing/2014/main" id="{08D9E68F-2C22-06A7-666D-18947CC5D66D}"/>
              </a:ext>
            </a:extLst>
          </p:cNvPr>
          <p:cNvPicPr>
            <a:picLocks noChangeAspect="1"/>
          </p:cNvPicPr>
          <p:nvPr/>
        </p:nvPicPr>
        <p:blipFill>
          <a:blip r:embed="rId4"/>
          <a:stretch>
            <a:fillRect/>
          </a:stretch>
        </p:blipFill>
        <p:spPr>
          <a:xfrm>
            <a:off x="6808490" y="1415969"/>
            <a:ext cx="5026056" cy="1787683"/>
          </a:xfrm>
          <a:prstGeom prst="rect">
            <a:avLst/>
          </a:prstGeom>
          <a:ln w="19050">
            <a:solidFill>
              <a:schemeClr val="tx1"/>
            </a:solidFill>
          </a:ln>
        </p:spPr>
      </p:pic>
      <p:sp>
        <p:nvSpPr>
          <p:cNvPr id="17" name="TextBox 16">
            <a:extLst>
              <a:ext uri="{FF2B5EF4-FFF2-40B4-BE49-F238E27FC236}">
                <a16:creationId xmlns:a16="http://schemas.microsoft.com/office/drawing/2014/main" id="{C5D3C86B-100A-51C9-8794-D69170CBE858}"/>
              </a:ext>
            </a:extLst>
          </p:cNvPr>
          <p:cNvSpPr txBox="1"/>
          <p:nvPr/>
        </p:nvSpPr>
        <p:spPr>
          <a:xfrm>
            <a:off x="6811154" y="970704"/>
            <a:ext cx="940642" cy="400110"/>
          </a:xfrm>
          <a:prstGeom prst="rect">
            <a:avLst/>
          </a:prstGeom>
          <a:noFill/>
        </p:spPr>
        <p:txBody>
          <a:bodyPr wrap="none" rtlCol="0">
            <a:spAutoFit/>
          </a:bodyPr>
          <a:lstStyle/>
          <a:p>
            <a:r>
              <a:rPr lang="en-IN" sz="2000" dirty="0"/>
              <a:t>Day - 2</a:t>
            </a:r>
          </a:p>
        </p:txBody>
      </p:sp>
      <p:sp>
        <p:nvSpPr>
          <p:cNvPr id="18" name="TextBox 17">
            <a:extLst>
              <a:ext uri="{FF2B5EF4-FFF2-40B4-BE49-F238E27FC236}">
                <a16:creationId xmlns:a16="http://schemas.microsoft.com/office/drawing/2014/main" id="{C69FAC4A-3C2D-13B7-CA9D-7A60AE206618}"/>
              </a:ext>
            </a:extLst>
          </p:cNvPr>
          <p:cNvSpPr txBox="1"/>
          <p:nvPr/>
        </p:nvSpPr>
        <p:spPr>
          <a:xfrm>
            <a:off x="5694896" y="3344139"/>
            <a:ext cx="870110" cy="400110"/>
          </a:xfrm>
          <a:prstGeom prst="rect">
            <a:avLst/>
          </a:prstGeom>
          <a:noFill/>
        </p:spPr>
        <p:txBody>
          <a:bodyPr wrap="none" rtlCol="0">
            <a:spAutoFit/>
          </a:bodyPr>
          <a:lstStyle/>
          <a:p>
            <a:r>
              <a:rPr lang="en-IN" sz="2000" dirty="0"/>
              <a:t>Day -3</a:t>
            </a:r>
          </a:p>
        </p:txBody>
      </p:sp>
      <p:pic>
        <p:nvPicPr>
          <p:cNvPr id="3" name="Picture 2">
            <a:extLst>
              <a:ext uri="{FF2B5EF4-FFF2-40B4-BE49-F238E27FC236}">
                <a16:creationId xmlns:a16="http://schemas.microsoft.com/office/drawing/2014/main" id="{744FC6A0-C61E-D3DD-D4B2-DF88391C8FFE}"/>
              </a:ext>
            </a:extLst>
          </p:cNvPr>
          <p:cNvPicPr>
            <a:picLocks noChangeAspect="1"/>
          </p:cNvPicPr>
          <p:nvPr/>
        </p:nvPicPr>
        <p:blipFill>
          <a:blip r:embed="rId5"/>
          <a:stretch>
            <a:fillRect/>
          </a:stretch>
        </p:blipFill>
        <p:spPr>
          <a:xfrm>
            <a:off x="3706307" y="3913834"/>
            <a:ext cx="5017987" cy="1973462"/>
          </a:xfrm>
          <a:prstGeom prst="rect">
            <a:avLst/>
          </a:prstGeom>
          <a:ln w="19050">
            <a:solidFill>
              <a:schemeClr val="tx1"/>
            </a:solidFill>
          </a:ln>
        </p:spPr>
      </p:pic>
    </p:spTree>
    <p:extLst>
      <p:ext uri="{BB962C8B-B14F-4D97-AF65-F5344CB8AC3E}">
        <p14:creationId xmlns:p14="http://schemas.microsoft.com/office/powerpoint/2010/main" val="1624783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A18098E-2E4A-D112-35A2-84088CB2BB94}"/>
              </a:ext>
            </a:extLst>
          </p:cNvPr>
          <p:cNvPicPr>
            <a:picLocks noChangeAspect="1"/>
          </p:cNvPicPr>
          <p:nvPr/>
        </p:nvPicPr>
        <p:blipFill>
          <a:blip r:embed="rId2"/>
          <a:stretch>
            <a:fillRect/>
          </a:stretch>
        </p:blipFill>
        <p:spPr>
          <a:xfrm>
            <a:off x="3231445" y="3929497"/>
            <a:ext cx="4886519" cy="1905606"/>
          </a:xfrm>
          <a:prstGeom prst="rect">
            <a:avLst/>
          </a:prstGeom>
          <a:ln w="19050">
            <a:solidFill>
              <a:schemeClr val="tx1"/>
            </a:solidFill>
          </a:ln>
        </p:spPr>
      </p:pic>
      <p:sp>
        <p:nvSpPr>
          <p:cNvPr id="24" name="TextBox 23">
            <a:extLst>
              <a:ext uri="{FF2B5EF4-FFF2-40B4-BE49-F238E27FC236}">
                <a16:creationId xmlns:a16="http://schemas.microsoft.com/office/drawing/2014/main" id="{4BAD5C15-434A-32CA-06F8-CABE2F7D1B9F}"/>
              </a:ext>
            </a:extLst>
          </p:cNvPr>
          <p:cNvSpPr txBox="1"/>
          <p:nvPr/>
        </p:nvSpPr>
        <p:spPr>
          <a:xfrm>
            <a:off x="5118132" y="3130099"/>
            <a:ext cx="940642" cy="400110"/>
          </a:xfrm>
          <a:prstGeom prst="rect">
            <a:avLst/>
          </a:prstGeom>
          <a:noFill/>
        </p:spPr>
        <p:txBody>
          <a:bodyPr wrap="none" rtlCol="0">
            <a:spAutoFit/>
          </a:bodyPr>
          <a:lstStyle/>
          <a:p>
            <a:r>
              <a:rPr lang="en-IN" sz="2000" dirty="0"/>
              <a:t>Day - 5</a:t>
            </a:r>
          </a:p>
        </p:txBody>
      </p:sp>
      <p:pic>
        <p:nvPicPr>
          <p:cNvPr id="20" name="Picture 19">
            <a:extLst>
              <a:ext uri="{FF2B5EF4-FFF2-40B4-BE49-F238E27FC236}">
                <a16:creationId xmlns:a16="http://schemas.microsoft.com/office/drawing/2014/main" id="{4D3ACD78-A142-DDAA-4583-37CA0383F749}"/>
              </a:ext>
            </a:extLst>
          </p:cNvPr>
          <p:cNvPicPr>
            <a:picLocks noChangeAspect="1"/>
          </p:cNvPicPr>
          <p:nvPr/>
        </p:nvPicPr>
        <p:blipFill>
          <a:blip r:embed="rId3"/>
          <a:stretch>
            <a:fillRect/>
          </a:stretch>
        </p:blipFill>
        <p:spPr>
          <a:xfrm>
            <a:off x="3194214" y="719251"/>
            <a:ext cx="4923751" cy="1978622"/>
          </a:xfrm>
          <a:prstGeom prst="rect">
            <a:avLst/>
          </a:prstGeom>
          <a:ln w="19050">
            <a:solidFill>
              <a:schemeClr val="tx1"/>
            </a:solidFill>
          </a:ln>
        </p:spPr>
      </p:pic>
      <p:sp>
        <p:nvSpPr>
          <p:cNvPr id="3" name="TextBox 2">
            <a:extLst>
              <a:ext uri="{FF2B5EF4-FFF2-40B4-BE49-F238E27FC236}">
                <a16:creationId xmlns:a16="http://schemas.microsoft.com/office/drawing/2014/main" id="{9CB55261-B53F-A145-F31C-2035FB4CBEB8}"/>
              </a:ext>
            </a:extLst>
          </p:cNvPr>
          <p:cNvSpPr txBox="1"/>
          <p:nvPr/>
        </p:nvSpPr>
        <p:spPr>
          <a:xfrm>
            <a:off x="5118132" y="134346"/>
            <a:ext cx="1075914" cy="400110"/>
          </a:xfrm>
          <a:prstGeom prst="rect">
            <a:avLst/>
          </a:prstGeom>
          <a:noFill/>
        </p:spPr>
        <p:txBody>
          <a:bodyPr wrap="square">
            <a:spAutoFit/>
          </a:bodyPr>
          <a:lstStyle/>
          <a:p>
            <a:r>
              <a:rPr lang="en-IN" sz="2000" dirty="0"/>
              <a:t>Day - 4</a:t>
            </a:r>
          </a:p>
        </p:txBody>
      </p:sp>
    </p:spTree>
    <p:extLst>
      <p:ext uri="{BB962C8B-B14F-4D97-AF65-F5344CB8AC3E}">
        <p14:creationId xmlns:p14="http://schemas.microsoft.com/office/powerpoint/2010/main" val="1386208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59CEEF-7CBF-8AD3-F6F8-20DD566D7CDD}"/>
              </a:ext>
            </a:extLst>
          </p:cNvPr>
          <p:cNvSpPr txBox="1"/>
          <p:nvPr/>
        </p:nvSpPr>
        <p:spPr>
          <a:xfrm>
            <a:off x="-182598" y="101931"/>
            <a:ext cx="12080072" cy="523220"/>
          </a:xfrm>
          <a:prstGeom prst="rect">
            <a:avLst/>
          </a:prstGeom>
          <a:noFill/>
        </p:spPr>
        <p:txBody>
          <a:bodyPr wrap="square" rtlCol="0">
            <a:spAutoFit/>
          </a:bodyPr>
          <a:lstStyle/>
          <a:p>
            <a:pPr algn="ctr"/>
            <a:r>
              <a:rPr lang="en-IN" sz="2800" b="1" dirty="0">
                <a:effectLst>
                  <a:outerShdw blurRad="38100" dist="38100" dir="2700000" algn="tl">
                    <a:srgbClr val="000000">
                      <a:alpha val="43137"/>
                    </a:srgbClr>
                  </a:outerShdw>
                </a:effectLst>
              </a:rPr>
              <a:t>Relationship between Reserved + Number of persons Vs Bill </a:t>
            </a:r>
          </a:p>
        </p:txBody>
      </p:sp>
      <p:pic>
        <p:nvPicPr>
          <p:cNvPr id="3" name="Picture 2">
            <a:extLst>
              <a:ext uri="{FF2B5EF4-FFF2-40B4-BE49-F238E27FC236}">
                <a16:creationId xmlns:a16="http://schemas.microsoft.com/office/drawing/2014/main" id="{1DB6CDEF-0AF1-6C86-3707-CB2449A64F15}"/>
              </a:ext>
            </a:extLst>
          </p:cNvPr>
          <p:cNvPicPr>
            <a:picLocks noChangeAspect="1"/>
          </p:cNvPicPr>
          <p:nvPr/>
        </p:nvPicPr>
        <p:blipFill>
          <a:blip r:embed="rId2"/>
          <a:stretch>
            <a:fillRect/>
          </a:stretch>
        </p:blipFill>
        <p:spPr>
          <a:xfrm>
            <a:off x="792395" y="1561038"/>
            <a:ext cx="3772094" cy="2953186"/>
          </a:xfrm>
          <a:prstGeom prst="rect">
            <a:avLst/>
          </a:prstGeom>
        </p:spPr>
      </p:pic>
      <p:sp>
        <p:nvSpPr>
          <p:cNvPr id="8" name="TextBox 7">
            <a:extLst>
              <a:ext uri="{FF2B5EF4-FFF2-40B4-BE49-F238E27FC236}">
                <a16:creationId xmlns:a16="http://schemas.microsoft.com/office/drawing/2014/main" id="{EC4E42BB-EC91-78D8-8103-2405829A8914}"/>
              </a:ext>
            </a:extLst>
          </p:cNvPr>
          <p:cNvSpPr txBox="1"/>
          <p:nvPr/>
        </p:nvSpPr>
        <p:spPr>
          <a:xfrm>
            <a:off x="748051" y="1185601"/>
            <a:ext cx="6195316" cy="369332"/>
          </a:xfrm>
          <a:prstGeom prst="rect">
            <a:avLst/>
          </a:prstGeom>
          <a:noFill/>
        </p:spPr>
        <p:txBody>
          <a:bodyPr wrap="square">
            <a:spAutoFit/>
          </a:bodyPr>
          <a:lstStyle/>
          <a:p>
            <a:r>
              <a:rPr lang="en-IN" dirty="0"/>
              <a:t>Day-1</a:t>
            </a:r>
          </a:p>
        </p:txBody>
      </p:sp>
      <p:pic>
        <p:nvPicPr>
          <p:cNvPr id="9" name="Picture 8">
            <a:extLst>
              <a:ext uri="{FF2B5EF4-FFF2-40B4-BE49-F238E27FC236}">
                <a16:creationId xmlns:a16="http://schemas.microsoft.com/office/drawing/2014/main" id="{CACDA139-CC97-5A8D-1B16-D59F44DA4C21}"/>
              </a:ext>
            </a:extLst>
          </p:cNvPr>
          <p:cNvPicPr>
            <a:picLocks noChangeAspect="1"/>
          </p:cNvPicPr>
          <p:nvPr/>
        </p:nvPicPr>
        <p:blipFill>
          <a:blip r:embed="rId3"/>
          <a:stretch>
            <a:fillRect/>
          </a:stretch>
        </p:blipFill>
        <p:spPr>
          <a:xfrm>
            <a:off x="7087959" y="1561038"/>
            <a:ext cx="3987271" cy="2953186"/>
          </a:xfrm>
          <a:prstGeom prst="rect">
            <a:avLst/>
          </a:prstGeom>
        </p:spPr>
      </p:pic>
      <p:sp>
        <p:nvSpPr>
          <p:cNvPr id="11" name="TextBox 10">
            <a:extLst>
              <a:ext uri="{FF2B5EF4-FFF2-40B4-BE49-F238E27FC236}">
                <a16:creationId xmlns:a16="http://schemas.microsoft.com/office/drawing/2014/main" id="{E2654BE7-455D-F667-55F6-A7EB5744AE46}"/>
              </a:ext>
            </a:extLst>
          </p:cNvPr>
          <p:cNvSpPr txBox="1"/>
          <p:nvPr/>
        </p:nvSpPr>
        <p:spPr>
          <a:xfrm>
            <a:off x="6991564" y="1191705"/>
            <a:ext cx="6195316" cy="369332"/>
          </a:xfrm>
          <a:prstGeom prst="rect">
            <a:avLst/>
          </a:prstGeom>
          <a:noFill/>
        </p:spPr>
        <p:txBody>
          <a:bodyPr wrap="square">
            <a:spAutoFit/>
          </a:bodyPr>
          <a:lstStyle/>
          <a:p>
            <a:r>
              <a:rPr lang="en-IN" dirty="0"/>
              <a:t>Day-2</a:t>
            </a:r>
          </a:p>
        </p:txBody>
      </p:sp>
      <p:sp>
        <p:nvSpPr>
          <p:cNvPr id="4" name="TextBox 3">
            <a:extLst>
              <a:ext uri="{FF2B5EF4-FFF2-40B4-BE49-F238E27FC236}">
                <a16:creationId xmlns:a16="http://schemas.microsoft.com/office/drawing/2014/main" id="{B64E3CD0-B98C-9C18-24FD-DA2313B5F397}"/>
              </a:ext>
            </a:extLst>
          </p:cNvPr>
          <p:cNvSpPr txBox="1"/>
          <p:nvPr/>
        </p:nvSpPr>
        <p:spPr>
          <a:xfrm>
            <a:off x="1245936" y="4839128"/>
            <a:ext cx="2565776" cy="400110"/>
          </a:xfrm>
          <a:prstGeom prst="rect">
            <a:avLst/>
          </a:prstGeom>
          <a:noFill/>
        </p:spPr>
        <p:txBody>
          <a:bodyPr wrap="square" rtlCol="0">
            <a:spAutoFit/>
          </a:bodyPr>
          <a:lstStyle/>
          <a:p>
            <a:r>
              <a:rPr lang="en-IN" sz="2000" b="1" dirty="0"/>
              <a:t>R-Squared – 0.919</a:t>
            </a:r>
          </a:p>
        </p:txBody>
      </p:sp>
      <p:sp>
        <p:nvSpPr>
          <p:cNvPr id="5" name="TextBox 4">
            <a:extLst>
              <a:ext uri="{FF2B5EF4-FFF2-40B4-BE49-F238E27FC236}">
                <a16:creationId xmlns:a16="http://schemas.microsoft.com/office/drawing/2014/main" id="{57D06825-7FFA-2E6B-4FD4-A658A33838E0}"/>
              </a:ext>
            </a:extLst>
          </p:cNvPr>
          <p:cNvSpPr txBox="1"/>
          <p:nvPr/>
        </p:nvSpPr>
        <p:spPr>
          <a:xfrm>
            <a:off x="7695343" y="4915082"/>
            <a:ext cx="2335576" cy="400110"/>
          </a:xfrm>
          <a:prstGeom prst="rect">
            <a:avLst/>
          </a:prstGeom>
          <a:noFill/>
        </p:spPr>
        <p:txBody>
          <a:bodyPr wrap="none" rtlCol="0">
            <a:spAutoFit/>
          </a:bodyPr>
          <a:lstStyle/>
          <a:p>
            <a:r>
              <a:rPr lang="en-IN" sz="2000" b="1" dirty="0"/>
              <a:t>R-Squared – 0.915</a:t>
            </a:r>
          </a:p>
        </p:txBody>
      </p:sp>
      <p:sp>
        <p:nvSpPr>
          <p:cNvPr id="6" name="TextBox 5">
            <a:extLst>
              <a:ext uri="{FF2B5EF4-FFF2-40B4-BE49-F238E27FC236}">
                <a16:creationId xmlns:a16="http://schemas.microsoft.com/office/drawing/2014/main" id="{75A7998E-1470-59BB-EE24-5D9B1234FA5C}"/>
              </a:ext>
            </a:extLst>
          </p:cNvPr>
          <p:cNvSpPr txBox="1"/>
          <p:nvPr/>
        </p:nvSpPr>
        <p:spPr>
          <a:xfrm>
            <a:off x="1210795" y="5239238"/>
            <a:ext cx="3093989" cy="400110"/>
          </a:xfrm>
          <a:prstGeom prst="rect">
            <a:avLst/>
          </a:prstGeom>
          <a:noFill/>
        </p:spPr>
        <p:txBody>
          <a:bodyPr wrap="none" rtlCol="0">
            <a:spAutoFit/>
          </a:bodyPr>
          <a:lstStyle/>
          <a:p>
            <a:r>
              <a:rPr lang="en-IN" sz="2000" b="1" dirty="0"/>
              <a:t>Average Bill – 2558.6965</a:t>
            </a:r>
          </a:p>
        </p:txBody>
      </p:sp>
      <p:sp>
        <p:nvSpPr>
          <p:cNvPr id="7" name="TextBox 6">
            <a:extLst>
              <a:ext uri="{FF2B5EF4-FFF2-40B4-BE49-F238E27FC236}">
                <a16:creationId xmlns:a16="http://schemas.microsoft.com/office/drawing/2014/main" id="{01994C9C-48A3-A2E0-825E-8FF60D947F9B}"/>
              </a:ext>
            </a:extLst>
          </p:cNvPr>
          <p:cNvSpPr txBox="1"/>
          <p:nvPr/>
        </p:nvSpPr>
        <p:spPr>
          <a:xfrm>
            <a:off x="7695343" y="5296962"/>
            <a:ext cx="2980175" cy="400110"/>
          </a:xfrm>
          <a:prstGeom prst="rect">
            <a:avLst/>
          </a:prstGeom>
          <a:noFill/>
        </p:spPr>
        <p:txBody>
          <a:bodyPr wrap="none" rtlCol="0">
            <a:spAutoFit/>
          </a:bodyPr>
          <a:lstStyle/>
          <a:p>
            <a:r>
              <a:rPr lang="en-IN" sz="2000" b="1" dirty="0"/>
              <a:t>Average Bill -3068.5823</a:t>
            </a:r>
          </a:p>
        </p:txBody>
      </p:sp>
      <p:sp>
        <p:nvSpPr>
          <p:cNvPr id="10" name="TextBox 9">
            <a:extLst>
              <a:ext uri="{FF2B5EF4-FFF2-40B4-BE49-F238E27FC236}">
                <a16:creationId xmlns:a16="http://schemas.microsoft.com/office/drawing/2014/main" id="{7D5E79F0-CE0B-2AFC-2A9E-A9852EBBD90D}"/>
              </a:ext>
            </a:extLst>
          </p:cNvPr>
          <p:cNvSpPr txBox="1"/>
          <p:nvPr/>
        </p:nvSpPr>
        <p:spPr>
          <a:xfrm>
            <a:off x="1210795" y="5639348"/>
            <a:ext cx="3389774" cy="400110"/>
          </a:xfrm>
          <a:prstGeom prst="rect">
            <a:avLst/>
          </a:prstGeom>
          <a:noFill/>
        </p:spPr>
        <p:txBody>
          <a:bodyPr wrap="none" rtlCol="0">
            <a:spAutoFit/>
          </a:bodyPr>
          <a:lstStyle/>
          <a:p>
            <a:r>
              <a:rPr lang="en-IN" sz="2000" b="1" dirty="0"/>
              <a:t>Maximum Bill – 4823.1024 </a:t>
            </a:r>
          </a:p>
        </p:txBody>
      </p:sp>
      <p:sp>
        <p:nvSpPr>
          <p:cNvPr id="15" name="TextBox 14">
            <a:extLst>
              <a:ext uri="{FF2B5EF4-FFF2-40B4-BE49-F238E27FC236}">
                <a16:creationId xmlns:a16="http://schemas.microsoft.com/office/drawing/2014/main" id="{CE8B7C6E-6A61-3EFA-03D8-E8F32AD0A49B}"/>
              </a:ext>
            </a:extLst>
          </p:cNvPr>
          <p:cNvSpPr txBox="1"/>
          <p:nvPr/>
        </p:nvSpPr>
        <p:spPr>
          <a:xfrm>
            <a:off x="7695343" y="5748889"/>
            <a:ext cx="3389774" cy="400110"/>
          </a:xfrm>
          <a:prstGeom prst="rect">
            <a:avLst/>
          </a:prstGeom>
          <a:noFill/>
        </p:spPr>
        <p:txBody>
          <a:bodyPr wrap="none" rtlCol="0">
            <a:spAutoFit/>
          </a:bodyPr>
          <a:lstStyle/>
          <a:p>
            <a:r>
              <a:rPr lang="en-IN" sz="2000" b="1" dirty="0"/>
              <a:t>Maximum Bill – 4239.1656 </a:t>
            </a:r>
          </a:p>
        </p:txBody>
      </p:sp>
    </p:spTree>
    <p:extLst>
      <p:ext uri="{BB962C8B-B14F-4D97-AF65-F5344CB8AC3E}">
        <p14:creationId xmlns:p14="http://schemas.microsoft.com/office/powerpoint/2010/main" val="1693219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B6DF11-5FAE-1FF2-D5E5-D18BBD08C677}"/>
              </a:ext>
            </a:extLst>
          </p:cNvPr>
          <p:cNvPicPr>
            <a:picLocks noChangeAspect="1"/>
          </p:cNvPicPr>
          <p:nvPr/>
        </p:nvPicPr>
        <p:blipFill>
          <a:blip r:embed="rId2"/>
          <a:stretch>
            <a:fillRect/>
          </a:stretch>
        </p:blipFill>
        <p:spPr>
          <a:xfrm>
            <a:off x="390640" y="762442"/>
            <a:ext cx="3698420" cy="2821635"/>
          </a:xfrm>
          <a:prstGeom prst="rect">
            <a:avLst/>
          </a:prstGeom>
        </p:spPr>
      </p:pic>
      <p:sp>
        <p:nvSpPr>
          <p:cNvPr id="11" name="TextBox 10">
            <a:extLst>
              <a:ext uri="{FF2B5EF4-FFF2-40B4-BE49-F238E27FC236}">
                <a16:creationId xmlns:a16="http://schemas.microsoft.com/office/drawing/2014/main" id="{39EA7D54-0DB8-49BC-29E5-2DD15CB1ADA0}"/>
              </a:ext>
            </a:extLst>
          </p:cNvPr>
          <p:cNvSpPr txBox="1"/>
          <p:nvPr/>
        </p:nvSpPr>
        <p:spPr>
          <a:xfrm>
            <a:off x="497634" y="253554"/>
            <a:ext cx="845574" cy="646331"/>
          </a:xfrm>
          <a:prstGeom prst="rect">
            <a:avLst/>
          </a:prstGeom>
          <a:noFill/>
        </p:spPr>
        <p:txBody>
          <a:bodyPr wrap="square" rtlCol="0">
            <a:spAutoFit/>
          </a:bodyPr>
          <a:lstStyle/>
          <a:p>
            <a:r>
              <a:rPr lang="en-IN" dirty="0"/>
              <a:t>Day-3</a:t>
            </a:r>
          </a:p>
          <a:p>
            <a:endParaRPr lang="en-IN" dirty="0"/>
          </a:p>
        </p:txBody>
      </p:sp>
      <p:sp>
        <p:nvSpPr>
          <p:cNvPr id="2" name="TextBox 1">
            <a:extLst>
              <a:ext uri="{FF2B5EF4-FFF2-40B4-BE49-F238E27FC236}">
                <a16:creationId xmlns:a16="http://schemas.microsoft.com/office/drawing/2014/main" id="{EBA5F1DE-6815-625D-9A93-050A49B9D94E}"/>
              </a:ext>
            </a:extLst>
          </p:cNvPr>
          <p:cNvSpPr txBox="1"/>
          <p:nvPr/>
        </p:nvSpPr>
        <p:spPr>
          <a:xfrm>
            <a:off x="7146062" y="228477"/>
            <a:ext cx="2212258" cy="646331"/>
          </a:xfrm>
          <a:prstGeom prst="rect">
            <a:avLst/>
          </a:prstGeom>
          <a:noFill/>
        </p:spPr>
        <p:txBody>
          <a:bodyPr wrap="square" rtlCol="0">
            <a:spAutoFit/>
          </a:bodyPr>
          <a:lstStyle/>
          <a:p>
            <a:r>
              <a:rPr lang="en-IN" dirty="0"/>
              <a:t>Day 4</a:t>
            </a:r>
          </a:p>
          <a:p>
            <a:endParaRPr lang="en-IN" dirty="0"/>
          </a:p>
        </p:txBody>
      </p:sp>
      <p:pic>
        <p:nvPicPr>
          <p:cNvPr id="6" name="Picture 5">
            <a:extLst>
              <a:ext uri="{FF2B5EF4-FFF2-40B4-BE49-F238E27FC236}">
                <a16:creationId xmlns:a16="http://schemas.microsoft.com/office/drawing/2014/main" id="{DC180D79-D156-7F43-A212-1E2B870C823B}"/>
              </a:ext>
            </a:extLst>
          </p:cNvPr>
          <p:cNvPicPr>
            <a:picLocks noChangeAspect="1"/>
          </p:cNvPicPr>
          <p:nvPr/>
        </p:nvPicPr>
        <p:blipFill>
          <a:blip r:embed="rId3"/>
          <a:stretch>
            <a:fillRect/>
          </a:stretch>
        </p:blipFill>
        <p:spPr>
          <a:xfrm>
            <a:off x="7146062" y="755000"/>
            <a:ext cx="3801439" cy="2674000"/>
          </a:xfrm>
          <a:prstGeom prst="rect">
            <a:avLst/>
          </a:prstGeom>
        </p:spPr>
      </p:pic>
      <p:sp>
        <p:nvSpPr>
          <p:cNvPr id="3" name="TextBox 2">
            <a:extLst>
              <a:ext uri="{FF2B5EF4-FFF2-40B4-BE49-F238E27FC236}">
                <a16:creationId xmlns:a16="http://schemas.microsoft.com/office/drawing/2014/main" id="{CCDD5525-0117-E23F-E42C-99317099D021}"/>
              </a:ext>
            </a:extLst>
          </p:cNvPr>
          <p:cNvSpPr txBox="1"/>
          <p:nvPr/>
        </p:nvSpPr>
        <p:spPr>
          <a:xfrm>
            <a:off x="920421" y="4092965"/>
            <a:ext cx="2335576" cy="400110"/>
          </a:xfrm>
          <a:prstGeom prst="rect">
            <a:avLst/>
          </a:prstGeom>
          <a:noFill/>
        </p:spPr>
        <p:txBody>
          <a:bodyPr wrap="none" rtlCol="0">
            <a:spAutoFit/>
          </a:bodyPr>
          <a:lstStyle/>
          <a:p>
            <a:r>
              <a:rPr lang="en-IN" sz="2000" b="1" dirty="0"/>
              <a:t>R-Squared – 0.924</a:t>
            </a:r>
          </a:p>
        </p:txBody>
      </p:sp>
      <p:sp>
        <p:nvSpPr>
          <p:cNvPr id="4" name="TextBox 3">
            <a:extLst>
              <a:ext uri="{FF2B5EF4-FFF2-40B4-BE49-F238E27FC236}">
                <a16:creationId xmlns:a16="http://schemas.microsoft.com/office/drawing/2014/main" id="{FC8ACDE7-2785-2586-93A6-13C95573702F}"/>
              </a:ext>
            </a:extLst>
          </p:cNvPr>
          <p:cNvSpPr txBox="1"/>
          <p:nvPr/>
        </p:nvSpPr>
        <p:spPr>
          <a:xfrm>
            <a:off x="7987105" y="4092965"/>
            <a:ext cx="2335576" cy="400110"/>
          </a:xfrm>
          <a:prstGeom prst="rect">
            <a:avLst/>
          </a:prstGeom>
          <a:noFill/>
        </p:spPr>
        <p:txBody>
          <a:bodyPr wrap="none" rtlCol="0">
            <a:spAutoFit/>
          </a:bodyPr>
          <a:lstStyle/>
          <a:p>
            <a:r>
              <a:rPr lang="en-IN" sz="2000" b="1" dirty="0"/>
              <a:t>R-Squared – 0.960</a:t>
            </a:r>
          </a:p>
        </p:txBody>
      </p:sp>
      <p:sp>
        <p:nvSpPr>
          <p:cNvPr id="5" name="TextBox 4">
            <a:extLst>
              <a:ext uri="{FF2B5EF4-FFF2-40B4-BE49-F238E27FC236}">
                <a16:creationId xmlns:a16="http://schemas.microsoft.com/office/drawing/2014/main" id="{5E2F2414-1640-7F3E-C6D5-0938FA8093D7}"/>
              </a:ext>
            </a:extLst>
          </p:cNvPr>
          <p:cNvSpPr txBox="1"/>
          <p:nvPr/>
        </p:nvSpPr>
        <p:spPr>
          <a:xfrm>
            <a:off x="920421" y="4601853"/>
            <a:ext cx="3093989" cy="400110"/>
          </a:xfrm>
          <a:prstGeom prst="rect">
            <a:avLst/>
          </a:prstGeom>
          <a:noFill/>
        </p:spPr>
        <p:txBody>
          <a:bodyPr wrap="none" rtlCol="0">
            <a:spAutoFit/>
          </a:bodyPr>
          <a:lstStyle/>
          <a:p>
            <a:r>
              <a:rPr lang="en-IN" sz="2000" b="1" dirty="0"/>
              <a:t>Average Bill – 3373.3791</a:t>
            </a:r>
          </a:p>
        </p:txBody>
      </p:sp>
      <p:sp>
        <p:nvSpPr>
          <p:cNvPr id="9" name="TextBox 8">
            <a:extLst>
              <a:ext uri="{FF2B5EF4-FFF2-40B4-BE49-F238E27FC236}">
                <a16:creationId xmlns:a16="http://schemas.microsoft.com/office/drawing/2014/main" id="{E5F52557-56D4-44FB-3A29-2148364B6A41}"/>
              </a:ext>
            </a:extLst>
          </p:cNvPr>
          <p:cNvSpPr txBox="1"/>
          <p:nvPr/>
        </p:nvSpPr>
        <p:spPr>
          <a:xfrm>
            <a:off x="7987105" y="4601853"/>
            <a:ext cx="3093989" cy="400110"/>
          </a:xfrm>
          <a:prstGeom prst="rect">
            <a:avLst/>
          </a:prstGeom>
          <a:noFill/>
        </p:spPr>
        <p:txBody>
          <a:bodyPr wrap="none" rtlCol="0">
            <a:spAutoFit/>
          </a:bodyPr>
          <a:lstStyle/>
          <a:p>
            <a:r>
              <a:rPr lang="en-IN" sz="2000" b="1" dirty="0"/>
              <a:t>Average Bill – 3027.8376</a:t>
            </a:r>
          </a:p>
        </p:txBody>
      </p:sp>
      <p:sp>
        <p:nvSpPr>
          <p:cNvPr id="10" name="TextBox 9">
            <a:extLst>
              <a:ext uri="{FF2B5EF4-FFF2-40B4-BE49-F238E27FC236}">
                <a16:creationId xmlns:a16="http://schemas.microsoft.com/office/drawing/2014/main" id="{A0B8826A-EF2F-7524-63D9-C96A174E6916}"/>
              </a:ext>
            </a:extLst>
          </p:cNvPr>
          <p:cNvSpPr txBox="1"/>
          <p:nvPr/>
        </p:nvSpPr>
        <p:spPr>
          <a:xfrm>
            <a:off x="920421" y="5110741"/>
            <a:ext cx="3319242" cy="400110"/>
          </a:xfrm>
          <a:prstGeom prst="rect">
            <a:avLst/>
          </a:prstGeom>
          <a:noFill/>
        </p:spPr>
        <p:txBody>
          <a:bodyPr wrap="none" rtlCol="0">
            <a:spAutoFit/>
          </a:bodyPr>
          <a:lstStyle/>
          <a:p>
            <a:r>
              <a:rPr lang="en-IN" sz="2000" b="1" dirty="0"/>
              <a:t>Maximum Bill – 5528.6251</a:t>
            </a:r>
          </a:p>
        </p:txBody>
      </p:sp>
      <p:sp>
        <p:nvSpPr>
          <p:cNvPr id="12" name="TextBox 11">
            <a:extLst>
              <a:ext uri="{FF2B5EF4-FFF2-40B4-BE49-F238E27FC236}">
                <a16:creationId xmlns:a16="http://schemas.microsoft.com/office/drawing/2014/main" id="{3BA05E42-D0E3-E0E0-A5C5-AA70BDB88375}"/>
              </a:ext>
            </a:extLst>
          </p:cNvPr>
          <p:cNvSpPr txBox="1"/>
          <p:nvPr/>
        </p:nvSpPr>
        <p:spPr>
          <a:xfrm>
            <a:off x="7987105" y="5110741"/>
            <a:ext cx="3319242" cy="400110"/>
          </a:xfrm>
          <a:prstGeom prst="rect">
            <a:avLst/>
          </a:prstGeom>
          <a:noFill/>
        </p:spPr>
        <p:txBody>
          <a:bodyPr wrap="none" rtlCol="0">
            <a:spAutoFit/>
          </a:bodyPr>
          <a:lstStyle/>
          <a:p>
            <a:r>
              <a:rPr lang="en-IN" sz="2000" b="1" dirty="0"/>
              <a:t>Maximum Bill – 5232.9612</a:t>
            </a:r>
          </a:p>
        </p:txBody>
      </p:sp>
    </p:spTree>
    <p:extLst>
      <p:ext uri="{BB962C8B-B14F-4D97-AF65-F5344CB8AC3E}">
        <p14:creationId xmlns:p14="http://schemas.microsoft.com/office/powerpoint/2010/main" val="314191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C37469C-4E08-B9F5-CACA-DC61455307F7}"/>
              </a:ext>
            </a:extLst>
          </p:cNvPr>
          <p:cNvSpPr txBox="1"/>
          <p:nvPr/>
        </p:nvSpPr>
        <p:spPr>
          <a:xfrm>
            <a:off x="827677" y="338385"/>
            <a:ext cx="2212258" cy="646331"/>
          </a:xfrm>
          <a:prstGeom prst="rect">
            <a:avLst/>
          </a:prstGeom>
          <a:noFill/>
        </p:spPr>
        <p:txBody>
          <a:bodyPr wrap="square" rtlCol="0">
            <a:spAutoFit/>
          </a:bodyPr>
          <a:lstStyle/>
          <a:p>
            <a:r>
              <a:rPr lang="en-IN" dirty="0"/>
              <a:t>Day 5</a:t>
            </a:r>
          </a:p>
          <a:p>
            <a:endParaRPr lang="en-IN" dirty="0"/>
          </a:p>
        </p:txBody>
      </p:sp>
      <p:pic>
        <p:nvPicPr>
          <p:cNvPr id="10" name="Picture 9">
            <a:extLst>
              <a:ext uri="{FF2B5EF4-FFF2-40B4-BE49-F238E27FC236}">
                <a16:creationId xmlns:a16="http://schemas.microsoft.com/office/drawing/2014/main" id="{125F4343-F3F1-49D9-3986-9C3F6A2C9644}"/>
              </a:ext>
            </a:extLst>
          </p:cNvPr>
          <p:cNvPicPr>
            <a:picLocks noChangeAspect="1"/>
          </p:cNvPicPr>
          <p:nvPr/>
        </p:nvPicPr>
        <p:blipFill>
          <a:blip r:embed="rId2"/>
          <a:stretch>
            <a:fillRect/>
          </a:stretch>
        </p:blipFill>
        <p:spPr>
          <a:xfrm>
            <a:off x="827677" y="984716"/>
            <a:ext cx="3958045" cy="2593155"/>
          </a:xfrm>
          <a:prstGeom prst="rect">
            <a:avLst/>
          </a:prstGeom>
        </p:spPr>
      </p:pic>
      <p:sp>
        <p:nvSpPr>
          <p:cNvPr id="2" name="TextBox 1">
            <a:extLst>
              <a:ext uri="{FF2B5EF4-FFF2-40B4-BE49-F238E27FC236}">
                <a16:creationId xmlns:a16="http://schemas.microsoft.com/office/drawing/2014/main" id="{C33F0DD0-89E3-5C9E-63FD-98EBE7662181}"/>
              </a:ext>
            </a:extLst>
          </p:cNvPr>
          <p:cNvSpPr txBox="1"/>
          <p:nvPr/>
        </p:nvSpPr>
        <p:spPr>
          <a:xfrm>
            <a:off x="5225017" y="338385"/>
            <a:ext cx="6750120" cy="5078313"/>
          </a:xfrm>
          <a:prstGeom prst="rect">
            <a:avLst/>
          </a:prstGeom>
          <a:noFill/>
        </p:spPr>
        <p:txBody>
          <a:bodyPr wrap="square" rtlCol="0">
            <a:spAutoFit/>
          </a:bodyPr>
          <a:lstStyle/>
          <a:p>
            <a:r>
              <a:rPr lang="en-IN" b="1" u="sng" dirty="0"/>
              <a:t>OBSERVATIONS:</a:t>
            </a:r>
          </a:p>
          <a:p>
            <a:endParaRPr lang="en-IN" b="1" u="sng" dirty="0"/>
          </a:p>
          <a:p>
            <a:pPr marL="285750" indent="-285750">
              <a:buFont typeface="Arial" panose="020B0604020202020204" pitchFamily="34" charset="0"/>
              <a:buChar char="•"/>
            </a:pPr>
            <a:r>
              <a:rPr lang="en-IN" dirty="0"/>
              <a:t>Based on the R- Squared values we can say that  the model is a good fit on day 4 as its value is 0.960</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Since this value is significantly higher for 4th day compared to others, it implies that on this day, factors like the number of persons and reservation status had a stronger or more consistent impact on how bills were generated.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could be due to specific operational factors (e.g., a higher number of group reservations, discounts applied based on reservations, etc.) or other contextual reasons that made the relationship more pronounced.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We can also observe Day 3 has the highest bill. Hence the restaurant should focus on coming up with more offers on this day to get more profit</a:t>
            </a:r>
            <a:r>
              <a:rPr lang="en-IN" dirty="0"/>
              <a:t>.</a:t>
            </a:r>
          </a:p>
        </p:txBody>
      </p:sp>
      <p:sp>
        <p:nvSpPr>
          <p:cNvPr id="3" name="TextBox 2">
            <a:extLst>
              <a:ext uri="{FF2B5EF4-FFF2-40B4-BE49-F238E27FC236}">
                <a16:creationId xmlns:a16="http://schemas.microsoft.com/office/drawing/2014/main" id="{7D0A0834-A675-5C3A-4E2D-FF18DA69D45E}"/>
              </a:ext>
            </a:extLst>
          </p:cNvPr>
          <p:cNvSpPr txBox="1"/>
          <p:nvPr/>
        </p:nvSpPr>
        <p:spPr>
          <a:xfrm>
            <a:off x="1030841" y="4108060"/>
            <a:ext cx="2335576" cy="400110"/>
          </a:xfrm>
          <a:prstGeom prst="rect">
            <a:avLst/>
          </a:prstGeom>
          <a:noFill/>
        </p:spPr>
        <p:txBody>
          <a:bodyPr wrap="none" rtlCol="0">
            <a:spAutoFit/>
          </a:bodyPr>
          <a:lstStyle/>
          <a:p>
            <a:r>
              <a:rPr lang="en-IN" sz="2000" b="1" dirty="0"/>
              <a:t>R-Squared – 0.950</a:t>
            </a:r>
          </a:p>
        </p:txBody>
      </p:sp>
      <p:sp>
        <p:nvSpPr>
          <p:cNvPr id="4" name="TextBox 3">
            <a:extLst>
              <a:ext uri="{FF2B5EF4-FFF2-40B4-BE49-F238E27FC236}">
                <a16:creationId xmlns:a16="http://schemas.microsoft.com/office/drawing/2014/main" id="{61AA68AC-AD8B-A9ED-2517-F7498139F99F}"/>
              </a:ext>
            </a:extLst>
          </p:cNvPr>
          <p:cNvSpPr txBox="1"/>
          <p:nvPr/>
        </p:nvSpPr>
        <p:spPr>
          <a:xfrm>
            <a:off x="1030841" y="4669027"/>
            <a:ext cx="3050707" cy="400110"/>
          </a:xfrm>
          <a:prstGeom prst="rect">
            <a:avLst/>
          </a:prstGeom>
          <a:noFill/>
        </p:spPr>
        <p:txBody>
          <a:bodyPr wrap="none" rtlCol="0">
            <a:spAutoFit/>
          </a:bodyPr>
          <a:lstStyle/>
          <a:p>
            <a:r>
              <a:rPr lang="en-IN" sz="2000" b="1" dirty="0"/>
              <a:t>Average Bill - 3176.6562</a:t>
            </a:r>
          </a:p>
        </p:txBody>
      </p:sp>
      <p:sp>
        <p:nvSpPr>
          <p:cNvPr id="5" name="TextBox 4">
            <a:extLst>
              <a:ext uri="{FF2B5EF4-FFF2-40B4-BE49-F238E27FC236}">
                <a16:creationId xmlns:a16="http://schemas.microsoft.com/office/drawing/2014/main" id="{499DA86F-5069-202F-BCBD-FAC2AF13949F}"/>
              </a:ext>
            </a:extLst>
          </p:cNvPr>
          <p:cNvSpPr txBox="1"/>
          <p:nvPr/>
        </p:nvSpPr>
        <p:spPr>
          <a:xfrm>
            <a:off x="1030841" y="5229994"/>
            <a:ext cx="3275961" cy="400110"/>
          </a:xfrm>
          <a:prstGeom prst="rect">
            <a:avLst/>
          </a:prstGeom>
          <a:noFill/>
        </p:spPr>
        <p:txBody>
          <a:bodyPr wrap="none" rtlCol="0">
            <a:spAutoFit/>
          </a:bodyPr>
          <a:lstStyle/>
          <a:p>
            <a:r>
              <a:rPr lang="en-IN" sz="2000" b="1" dirty="0"/>
              <a:t>Maximum Bill - 5170.9446</a:t>
            </a:r>
          </a:p>
        </p:txBody>
      </p:sp>
    </p:spTree>
    <p:extLst>
      <p:ext uri="{BB962C8B-B14F-4D97-AF65-F5344CB8AC3E}">
        <p14:creationId xmlns:p14="http://schemas.microsoft.com/office/powerpoint/2010/main" val="1574940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A333A8-34E6-07CF-0593-5F300C350631}"/>
              </a:ext>
            </a:extLst>
          </p:cNvPr>
          <p:cNvSpPr txBox="1"/>
          <p:nvPr/>
        </p:nvSpPr>
        <p:spPr>
          <a:xfrm>
            <a:off x="3780890" y="245725"/>
            <a:ext cx="4357283" cy="523220"/>
          </a:xfrm>
          <a:prstGeom prst="rect">
            <a:avLst/>
          </a:prstGeom>
          <a:noFill/>
        </p:spPr>
        <p:txBody>
          <a:bodyPr wrap="none" rtlCol="0">
            <a:spAutoFit/>
          </a:bodyPr>
          <a:lstStyle/>
          <a:p>
            <a:r>
              <a:rPr lang="en-IN" sz="2800" b="1" dirty="0">
                <a:effectLst>
                  <a:outerShdw blurRad="38100" dist="38100" dir="2700000" algn="tl">
                    <a:srgbClr val="000000">
                      <a:alpha val="43137"/>
                    </a:srgbClr>
                  </a:outerShdw>
                </a:effectLst>
              </a:rPr>
              <a:t>Number of Adults VS Bill</a:t>
            </a:r>
          </a:p>
        </p:txBody>
      </p:sp>
      <p:sp>
        <p:nvSpPr>
          <p:cNvPr id="3" name="TextBox 2">
            <a:extLst>
              <a:ext uri="{FF2B5EF4-FFF2-40B4-BE49-F238E27FC236}">
                <a16:creationId xmlns:a16="http://schemas.microsoft.com/office/drawing/2014/main" id="{3496F8FD-1798-CD46-418B-6EADB263C8C7}"/>
              </a:ext>
            </a:extLst>
          </p:cNvPr>
          <p:cNvSpPr txBox="1"/>
          <p:nvPr/>
        </p:nvSpPr>
        <p:spPr>
          <a:xfrm>
            <a:off x="346548" y="954465"/>
            <a:ext cx="1140434" cy="369332"/>
          </a:xfrm>
          <a:prstGeom prst="rect">
            <a:avLst/>
          </a:prstGeom>
          <a:noFill/>
        </p:spPr>
        <p:txBody>
          <a:bodyPr wrap="square" rtlCol="0">
            <a:spAutoFit/>
          </a:bodyPr>
          <a:lstStyle/>
          <a:p>
            <a:r>
              <a:rPr lang="en-IN" dirty="0"/>
              <a:t>Day - 1</a:t>
            </a:r>
          </a:p>
        </p:txBody>
      </p:sp>
      <p:sp>
        <p:nvSpPr>
          <p:cNvPr id="5" name="TextBox 4">
            <a:extLst>
              <a:ext uri="{FF2B5EF4-FFF2-40B4-BE49-F238E27FC236}">
                <a16:creationId xmlns:a16="http://schemas.microsoft.com/office/drawing/2014/main" id="{012E1A15-A39D-192B-4269-65213A2223BB}"/>
              </a:ext>
            </a:extLst>
          </p:cNvPr>
          <p:cNvSpPr txBox="1"/>
          <p:nvPr/>
        </p:nvSpPr>
        <p:spPr>
          <a:xfrm>
            <a:off x="6096000" y="954465"/>
            <a:ext cx="802207" cy="369332"/>
          </a:xfrm>
          <a:prstGeom prst="rect">
            <a:avLst/>
          </a:prstGeom>
          <a:noFill/>
        </p:spPr>
        <p:txBody>
          <a:bodyPr wrap="none" rtlCol="0">
            <a:spAutoFit/>
          </a:bodyPr>
          <a:lstStyle/>
          <a:p>
            <a:r>
              <a:rPr lang="en-IN" dirty="0"/>
              <a:t>Day -2</a:t>
            </a:r>
          </a:p>
        </p:txBody>
      </p:sp>
      <p:pic>
        <p:nvPicPr>
          <p:cNvPr id="6" name="Picture 5">
            <a:extLst>
              <a:ext uri="{FF2B5EF4-FFF2-40B4-BE49-F238E27FC236}">
                <a16:creationId xmlns:a16="http://schemas.microsoft.com/office/drawing/2014/main" id="{CAE6098F-E50D-3D84-5890-75A1D485CD69}"/>
              </a:ext>
            </a:extLst>
          </p:cNvPr>
          <p:cNvPicPr>
            <a:picLocks noChangeAspect="1"/>
          </p:cNvPicPr>
          <p:nvPr/>
        </p:nvPicPr>
        <p:blipFill>
          <a:blip r:embed="rId2"/>
          <a:stretch>
            <a:fillRect/>
          </a:stretch>
        </p:blipFill>
        <p:spPr>
          <a:xfrm>
            <a:off x="174199" y="1323797"/>
            <a:ext cx="4562188" cy="3360785"/>
          </a:xfrm>
          <a:prstGeom prst="rect">
            <a:avLst/>
          </a:prstGeom>
          <a:ln w="19050">
            <a:solidFill>
              <a:schemeClr val="tx1"/>
            </a:solidFill>
          </a:ln>
        </p:spPr>
      </p:pic>
      <p:pic>
        <p:nvPicPr>
          <p:cNvPr id="8" name="Picture 7">
            <a:extLst>
              <a:ext uri="{FF2B5EF4-FFF2-40B4-BE49-F238E27FC236}">
                <a16:creationId xmlns:a16="http://schemas.microsoft.com/office/drawing/2014/main" id="{3C17901E-E338-9447-8567-F2FE27994798}"/>
              </a:ext>
            </a:extLst>
          </p:cNvPr>
          <p:cNvPicPr>
            <a:picLocks noChangeAspect="1"/>
          </p:cNvPicPr>
          <p:nvPr/>
        </p:nvPicPr>
        <p:blipFill>
          <a:blip r:embed="rId3"/>
          <a:stretch>
            <a:fillRect/>
          </a:stretch>
        </p:blipFill>
        <p:spPr>
          <a:xfrm>
            <a:off x="6668864" y="1314988"/>
            <a:ext cx="4804282" cy="3369594"/>
          </a:xfrm>
          <a:prstGeom prst="rect">
            <a:avLst/>
          </a:prstGeom>
          <a:ln w="19050">
            <a:solidFill>
              <a:schemeClr val="tx1"/>
            </a:solidFill>
          </a:ln>
        </p:spPr>
      </p:pic>
      <p:sp>
        <p:nvSpPr>
          <p:cNvPr id="4" name="TextBox 3">
            <a:extLst>
              <a:ext uri="{FF2B5EF4-FFF2-40B4-BE49-F238E27FC236}">
                <a16:creationId xmlns:a16="http://schemas.microsoft.com/office/drawing/2014/main" id="{E2C71D32-7E91-7DFC-6B54-DE9BE2E97164}"/>
              </a:ext>
            </a:extLst>
          </p:cNvPr>
          <p:cNvSpPr txBox="1"/>
          <p:nvPr/>
        </p:nvSpPr>
        <p:spPr>
          <a:xfrm>
            <a:off x="1284269" y="5164871"/>
            <a:ext cx="2335576" cy="400110"/>
          </a:xfrm>
          <a:prstGeom prst="rect">
            <a:avLst/>
          </a:prstGeom>
          <a:noFill/>
        </p:spPr>
        <p:txBody>
          <a:bodyPr wrap="none" rtlCol="0">
            <a:spAutoFit/>
          </a:bodyPr>
          <a:lstStyle/>
          <a:p>
            <a:r>
              <a:rPr lang="en-IN" sz="2000" b="1" dirty="0"/>
              <a:t>R-Squared – 0.205</a:t>
            </a:r>
          </a:p>
        </p:txBody>
      </p:sp>
      <p:sp>
        <p:nvSpPr>
          <p:cNvPr id="7" name="TextBox 6">
            <a:extLst>
              <a:ext uri="{FF2B5EF4-FFF2-40B4-BE49-F238E27FC236}">
                <a16:creationId xmlns:a16="http://schemas.microsoft.com/office/drawing/2014/main" id="{C0078319-5C6F-1A39-18B3-AFE9919E3C22}"/>
              </a:ext>
            </a:extLst>
          </p:cNvPr>
          <p:cNvSpPr txBox="1"/>
          <p:nvPr/>
        </p:nvSpPr>
        <p:spPr>
          <a:xfrm>
            <a:off x="7777536" y="5164871"/>
            <a:ext cx="2335576" cy="400110"/>
          </a:xfrm>
          <a:prstGeom prst="rect">
            <a:avLst/>
          </a:prstGeom>
          <a:noFill/>
        </p:spPr>
        <p:txBody>
          <a:bodyPr wrap="none" rtlCol="0">
            <a:spAutoFit/>
          </a:bodyPr>
          <a:lstStyle/>
          <a:p>
            <a:r>
              <a:rPr lang="en-IN" sz="2000" b="1" dirty="0"/>
              <a:t>R-Squared – 0.221</a:t>
            </a:r>
          </a:p>
        </p:txBody>
      </p:sp>
      <p:sp>
        <p:nvSpPr>
          <p:cNvPr id="9" name="TextBox 8">
            <a:extLst>
              <a:ext uri="{FF2B5EF4-FFF2-40B4-BE49-F238E27FC236}">
                <a16:creationId xmlns:a16="http://schemas.microsoft.com/office/drawing/2014/main" id="{A47215B6-ACBE-EB56-2CE4-1620D265B384}"/>
              </a:ext>
            </a:extLst>
          </p:cNvPr>
          <p:cNvSpPr txBox="1"/>
          <p:nvPr/>
        </p:nvSpPr>
        <p:spPr>
          <a:xfrm>
            <a:off x="1284269" y="5671833"/>
            <a:ext cx="3093989" cy="400110"/>
          </a:xfrm>
          <a:prstGeom prst="rect">
            <a:avLst/>
          </a:prstGeom>
          <a:noFill/>
        </p:spPr>
        <p:txBody>
          <a:bodyPr wrap="none" rtlCol="0">
            <a:spAutoFit/>
          </a:bodyPr>
          <a:lstStyle/>
          <a:p>
            <a:r>
              <a:rPr lang="en-IN" sz="2000" b="1" dirty="0"/>
              <a:t>Average Bill – 2727.2182</a:t>
            </a:r>
          </a:p>
        </p:txBody>
      </p:sp>
      <p:sp>
        <p:nvSpPr>
          <p:cNvPr id="11" name="TextBox 10">
            <a:extLst>
              <a:ext uri="{FF2B5EF4-FFF2-40B4-BE49-F238E27FC236}">
                <a16:creationId xmlns:a16="http://schemas.microsoft.com/office/drawing/2014/main" id="{33C649F5-A2F9-4E91-06D9-B346837A22EE}"/>
              </a:ext>
            </a:extLst>
          </p:cNvPr>
          <p:cNvSpPr txBox="1"/>
          <p:nvPr/>
        </p:nvSpPr>
        <p:spPr>
          <a:xfrm>
            <a:off x="7777536" y="5671833"/>
            <a:ext cx="3093989" cy="400110"/>
          </a:xfrm>
          <a:prstGeom prst="rect">
            <a:avLst/>
          </a:prstGeom>
          <a:noFill/>
        </p:spPr>
        <p:txBody>
          <a:bodyPr wrap="none" rtlCol="0">
            <a:spAutoFit/>
          </a:bodyPr>
          <a:lstStyle/>
          <a:p>
            <a:r>
              <a:rPr lang="en-IN" sz="2000" b="1" dirty="0"/>
              <a:t>Average Bill – 3229.1160</a:t>
            </a:r>
          </a:p>
        </p:txBody>
      </p:sp>
    </p:spTree>
    <p:extLst>
      <p:ext uri="{BB962C8B-B14F-4D97-AF65-F5344CB8AC3E}">
        <p14:creationId xmlns:p14="http://schemas.microsoft.com/office/powerpoint/2010/main" val="3437736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145D56-F4AF-16DB-B2D8-DC9F04F5EE2A}"/>
              </a:ext>
            </a:extLst>
          </p:cNvPr>
          <p:cNvSpPr txBox="1"/>
          <p:nvPr/>
        </p:nvSpPr>
        <p:spPr>
          <a:xfrm>
            <a:off x="1619918" y="154254"/>
            <a:ext cx="866327" cy="369332"/>
          </a:xfrm>
          <a:prstGeom prst="rect">
            <a:avLst/>
          </a:prstGeom>
          <a:noFill/>
        </p:spPr>
        <p:txBody>
          <a:bodyPr wrap="none" rtlCol="0">
            <a:spAutoFit/>
          </a:bodyPr>
          <a:lstStyle/>
          <a:p>
            <a:r>
              <a:rPr lang="en-IN" dirty="0"/>
              <a:t>Day- 3 </a:t>
            </a:r>
          </a:p>
        </p:txBody>
      </p:sp>
      <p:pic>
        <p:nvPicPr>
          <p:cNvPr id="9" name="Picture 8">
            <a:extLst>
              <a:ext uri="{FF2B5EF4-FFF2-40B4-BE49-F238E27FC236}">
                <a16:creationId xmlns:a16="http://schemas.microsoft.com/office/drawing/2014/main" id="{46EA8F61-0BFA-5799-3B39-C953748F360C}"/>
              </a:ext>
            </a:extLst>
          </p:cNvPr>
          <p:cNvPicPr>
            <a:picLocks noChangeAspect="1"/>
          </p:cNvPicPr>
          <p:nvPr/>
        </p:nvPicPr>
        <p:blipFill>
          <a:blip r:embed="rId2"/>
          <a:stretch>
            <a:fillRect/>
          </a:stretch>
        </p:blipFill>
        <p:spPr>
          <a:xfrm>
            <a:off x="783168" y="638054"/>
            <a:ext cx="4074304" cy="3711869"/>
          </a:xfrm>
          <a:prstGeom prst="rect">
            <a:avLst/>
          </a:prstGeom>
          <a:ln w="12700">
            <a:solidFill>
              <a:schemeClr val="tx1"/>
            </a:solidFill>
          </a:ln>
        </p:spPr>
      </p:pic>
      <p:sp>
        <p:nvSpPr>
          <p:cNvPr id="10" name="TextBox 9">
            <a:extLst>
              <a:ext uri="{FF2B5EF4-FFF2-40B4-BE49-F238E27FC236}">
                <a16:creationId xmlns:a16="http://schemas.microsoft.com/office/drawing/2014/main" id="{B14CEEA5-0CA9-E886-1648-98FE5192ED30}"/>
              </a:ext>
            </a:extLst>
          </p:cNvPr>
          <p:cNvSpPr txBox="1"/>
          <p:nvPr/>
        </p:nvSpPr>
        <p:spPr>
          <a:xfrm>
            <a:off x="7743654" y="106904"/>
            <a:ext cx="930448" cy="369332"/>
          </a:xfrm>
          <a:prstGeom prst="rect">
            <a:avLst/>
          </a:prstGeom>
          <a:noFill/>
        </p:spPr>
        <p:txBody>
          <a:bodyPr wrap="none" rtlCol="0">
            <a:spAutoFit/>
          </a:bodyPr>
          <a:lstStyle/>
          <a:p>
            <a:r>
              <a:rPr lang="en-IN" dirty="0"/>
              <a:t>Day-  4 </a:t>
            </a:r>
          </a:p>
        </p:txBody>
      </p:sp>
      <p:pic>
        <p:nvPicPr>
          <p:cNvPr id="13" name="Picture 12">
            <a:extLst>
              <a:ext uri="{FF2B5EF4-FFF2-40B4-BE49-F238E27FC236}">
                <a16:creationId xmlns:a16="http://schemas.microsoft.com/office/drawing/2014/main" id="{BB63CBCE-55FD-C43B-64F2-F441ECA18E81}"/>
              </a:ext>
            </a:extLst>
          </p:cNvPr>
          <p:cNvPicPr>
            <a:picLocks noChangeAspect="1"/>
          </p:cNvPicPr>
          <p:nvPr/>
        </p:nvPicPr>
        <p:blipFill>
          <a:blip r:embed="rId3"/>
          <a:stretch>
            <a:fillRect/>
          </a:stretch>
        </p:blipFill>
        <p:spPr>
          <a:xfrm>
            <a:off x="7197213" y="638054"/>
            <a:ext cx="4211619" cy="3711869"/>
          </a:xfrm>
          <a:prstGeom prst="rect">
            <a:avLst/>
          </a:prstGeom>
          <a:ln w="12700">
            <a:solidFill>
              <a:schemeClr val="tx1"/>
            </a:solidFill>
          </a:ln>
        </p:spPr>
      </p:pic>
      <p:sp>
        <p:nvSpPr>
          <p:cNvPr id="2" name="TextBox 1">
            <a:extLst>
              <a:ext uri="{FF2B5EF4-FFF2-40B4-BE49-F238E27FC236}">
                <a16:creationId xmlns:a16="http://schemas.microsoft.com/office/drawing/2014/main" id="{11022D22-DF9E-C6CC-B865-85FFBD4825D0}"/>
              </a:ext>
            </a:extLst>
          </p:cNvPr>
          <p:cNvSpPr txBox="1"/>
          <p:nvPr/>
        </p:nvSpPr>
        <p:spPr>
          <a:xfrm>
            <a:off x="1250048" y="5083408"/>
            <a:ext cx="2335576" cy="400110"/>
          </a:xfrm>
          <a:prstGeom prst="rect">
            <a:avLst/>
          </a:prstGeom>
          <a:noFill/>
        </p:spPr>
        <p:txBody>
          <a:bodyPr wrap="none" rtlCol="0">
            <a:spAutoFit/>
          </a:bodyPr>
          <a:lstStyle/>
          <a:p>
            <a:r>
              <a:rPr lang="en-IN" sz="2000" b="1" dirty="0"/>
              <a:t>R-Squared – 0.254</a:t>
            </a:r>
          </a:p>
        </p:txBody>
      </p:sp>
      <p:sp>
        <p:nvSpPr>
          <p:cNvPr id="3" name="TextBox 2">
            <a:extLst>
              <a:ext uri="{FF2B5EF4-FFF2-40B4-BE49-F238E27FC236}">
                <a16:creationId xmlns:a16="http://schemas.microsoft.com/office/drawing/2014/main" id="{2A97B2BC-5340-5D8D-F317-641908B39F27}"/>
              </a:ext>
            </a:extLst>
          </p:cNvPr>
          <p:cNvSpPr txBox="1"/>
          <p:nvPr/>
        </p:nvSpPr>
        <p:spPr>
          <a:xfrm>
            <a:off x="8301520" y="5070834"/>
            <a:ext cx="2335576" cy="400110"/>
          </a:xfrm>
          <a:prstGeom prst="rect">
            <a:avLst/>
          </a:prstGeom>
          <a:noFill/>
        </p:spPr>
        <p:txBody>
          <a:bodyPr wrap="none" rtlCol="0">
            <a:spAutoFit/>
          </a:bodyPr>
          <a:lstStyle/>
          <a:p>
            <a:r>
              <a:rPr lang="en-IN" sz="2000" b="1" dirty="0"/>
              <a:t>R-Squared – 0.491</a:t>
            </a:r>
          </a:p>
        </p:txBody>
      </p:sp>
      <p:sp>
        <p:nvSpPr>
          <p:cNvPr id="4" name="TextBox 3">
            <a:extLst>
              <a:ext uri="{FF2B5EF4-FFF2-40B4-BE49-F238E27FC236}">
                <a16:creationId xmlns:a16="http://schemas.microsoft.com/office/drawing/2014/main" id="{9FA81F88-941D-9501-88BC-BCEA3CE87893}"/>
              </a:ext>
            </a:extLst>
          </p:cNvPr>
          <p:cNvSpPr txBox="1"/>
          <p:nvPr/>
        </p:nvSpPr>
        <p:spPr>
          <a:xfrm>
            <a:off x="1250048" y="5589142"/>
            <a:ext cx="3093989" cy="400110"/>
          </a:xfrm>
          <a:prstGeom prst="rect">
            <a:avLst/>
          </a:prstGeom>
          <a:noFill/>
        </p:spPr>
        <p:txBody>
          <a:bodyPr wrap="none" rtlCol="0">
            <a:spAutoFit/>
          </a:bodyPr>
          <a:lstStyle/>
          <a:p>
            <a:r>
              <a:rPr lang="en-IN" sz="2000" b="1" dirty="0"/>
              <a:t>Average Bill – 3272.2809</a:t>
            </a:r>
          </a:p>
        </p:txBody>
      </p:sp>
      <p:sp>
        <p:nvSpPr>
          <p:cNvPr id="5" name="TextBox 4">
            <a:extLst>
              <a:ext uri="{FF2B5EF4-FFF2-40B4-BE49-F238E27FC236}">
                <a16:creationId xmlns:a16="http://schemas.microsoft.com/office/drawing/2014/main" id="{14190160-067D-68FD-8523-584247E73164}"/>
              </a:ext>
            </a:extLst>
          </p:cNvPr>
          <p:cNvSpPr txBox="1"/>
          <p:nvPr/>
        </p:nvSpPr>
        <p:spPr>
          <a:xfrm>
            <a:off x="8301520" y="5568594"/>
            <a:ext cx="3093989" cy="400110"/>
          </a:xfrm>
          <a:prstGeom prst="rect">
            <a:avLst/>
          </a:prstGeom>
          <a:noFill/>
        </p:spPr>
        <p:txBody>
          <a:bodyPr wrap="none" rtlCol="0">
            <a:spAutoFit/>
          </a:bodyPr>
          <a:lstStyle/>
          <a:p>
            <a:r>
              <a:rPr lang="en-IN" sz="2000" b="1" dirty="0"/>
              <a:t>Average Bill – 2619.1070</a:t>
            </a:r>
          </a:p>
        </p:txBody>
      </p:sp>
    </p:spTree>
    <p:extLst>
      <p:ext uri="{BB962C8B-B14F-4D97-AF65-F5344CB8AC3E}">
        <p14:creationId xmlns:p14="http://schemas.microsoft.com/office/powerpoint/2010/main" val="1304747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FB1B3EF-0254-A182-4CBE-44629FD31005}"/>
              </a:ext>
            </a:extLst>
          </p:cNvPr>
          <p:cNvPicPr>
            <a:picLocks noChangeAspect="1"/>
          </p:cNvPicPr>
          <p:nvPr/>
        </p:nvPicPr>
        <p:blipFill>
          <a:blip r:embed="rId2"/>
          <a:stretch>
            <a:fillRect/>
          </a:stretch>
        </p:blipFill>
        <p:spPr>
          <a:xfrm>
            <a:off x="1215451" y="987581"/>
            <a:ext cx="4074304" cy="3760879"/>
          </a:xfrm>
          <a:prstGeom prst="rect">
            <a:avLst/>
          </a:prstGeom>
          <a:ln w="12700">
            <a:solidFill>
              <a:schemeClr val="tx1"/>
            </a:solidFill>
          </a:ln>
        </p:spPr>
      </p:pic>
      <p:sp>
        <p:nvSpPr>
          <p:cNvPr id="14" name="TextBox 13">
            <a:extLst>
              <a:ext uri="{FF2B5EF4-FFF2-40B4-BE49-F238E27FC236}">
                <a16:creationId xmlns:a16="http://schemas.microsoft.com/office/drawing/2014/main" id="{366A7610-FD1C-8E27-B00A-7FCB603DD8C8}"/>
              </a:ext>
            </a:extLst>
          </p:cNvPr>
          <p:cNvSpPr txBox="1"/>
          <p:nvPr/>
        </p:nvSpPr>
        <p:spPr>
          <a:xfrm>
            <a:off x="1601726" y="264035"/>
            <a:ext cx="866327" cy="369332"/>
          </a:xfrm>
          <a:prstGeom prst="rect">
            <a:avLst/>
          </a:prstGeom>
          <a:noFill/>
        </p:spPr>
        <p:txBody>
          <a:bodyPr wrap="none" rtlCol="0">
            <a:spAutoFit/>
          </a:bodyPr>
          <a:lstStyle/>
          <a:p>
            <a:r>
              <a:rPr lang="en-IN" dirty="0"/>
              <a:t>Day - 5</a:t>
            </a:r>
          </a:p>
        </p:txBody>
      </p:sp>
      <p:sp>
        <p:nvSpPr>
          <p:cNvPr id="2" name="TextBox 1">
            <a:extLst>
              <a:ext uri="{FF2B5EF4-FFF2-40B4-BE49-F238E27FC236}">
                <a16:creationId xmlns:a16="http://schemas.microsoft.com/office/drawing/2014/main" id="{EBD802FF-59E3-9D79-E423-9EBBB98EBBCC}"/>
              </a:ext>
            </a:extLst>
          </p:cNvPr>
          <p:cNvSpPr txBox="1"/>
          <p:nvPr/>
        </p:nvSpPr>
        <p:spPr>
          <a:xfrm>
            <a:off x="5751870" y="506259"/>
            <a:ext cx="5879123" cy="4247317"/>
          </a:xfrm>
          <a:prstGeom prst="rect">
            <a:avLst/>
          </a:prstGeom>
          <a:noFill/>
        </p:spPr>
        <p:txBody>
          <a:bodyPr wrap="square" rtlCol="0">
            <a:spAutoFit/>
          </a:bodyPr>
          <a:lstStyle/>
          <a:p>
            <a:r>
              <a:rPr lang="en-IN" b="1" u="sng" dirty="0"/>
              <a:t>OBSERVATIONS</a:t>
            </a:r>
          </a:p>
          <a:p>
            <a:endParaRPr lang="en-IN" b="1" u="sng" dirty="0"/>
          </a:p>
          <a:p>
            <a:pPr marL="285750" indent="-285750">
              <a:buFont typeface="Arial" panose="020B0604020202020204" pitchFamily="34" charset="0"/>
              <a:buChar char="•"/>
            </a:pPr>
            <a:r>
              <a:rPr lang="en-US" dirty="0"/>
              <a:t>The value 0.491 indicates a moderate level of explanatory power.  The model does not explain all of the variance in the "Bill," but it explains nearly half of it.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There is a moderate relationship between “Number of Adults" and "Bill." Other factors or variables likely play a significant role in determining the bill amount.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We can also observe Day 3 has the highest average bill. Hence the restaurant should focus on the capacity to accommodate more adults, whether through better space management, reduced wait times, or targeted marketing that boosts adult bookings.</a:t>
            </a:r>
            <a:endParaRPr lang="en-IN" dirty="0"/>
          </a:p>
        </p:txBody>
      </p:sp>
      <p:sp>
        <p:nvSpPr>
          <p:cNvPr id="3" name="TextBox 2">
            <a:extLst>
              <a:ext uri="{FF2B5EF4-FFF2-40B4-BE49-F238E27FC236}">
                <a16:creationId xmlns:a16="http://schemas.microsoft.com/office/drawing/2014/main" id="{74D5FA6E-B5AD-25C5-B850-E03CB19E64C0}"/>
              </a:ext>
            </a:extLst>
          </p:cNvPr>
          <p:cNvSpPr txBox="1"/>
          <p:nvPr/>
        </p:nvSpPr>
        <p:spPr>
          <a:xfrm>
            <a:off x="1601726" y="5102674"/>
            <a:ext cx="2335576" cy="400110"/>
          </a:xfrm>
          <a:prstGeom prst="rect">
            <a:avLst/>
          </a:prstGeom>
          <a:noFill/>
        </p:spPr>
        <p:txBody>
          <a:bodyPr wrap="none" rtlCol="0">
            <a:spAutoFit/>
          </a:bodyPr>
          <a:lstStyle/>
          <a:p>
            <a:r>
              <a:rPr lang="en-IN" sz="2000" b="1" dirty="0"/>
              <a:t>R-Squared – 0.460</a:t>
            </a:r>
          </a:p>
        </p:txBody>
      </p:sp>
      <p:sp>
        <p:nvSpPr>
          <p:cNvPr id="4" name="TextBox 3">
            <a:extLst>
              <a:ext uri="{FF2B5EF4-FFF2-40B4-BE49-F238E27FC236}">
                <a16:creationId xmlns:a16="http://schemas.microsoft.com/office/drawing/2014/main" id="{DC8EE11E-DFBA-E693-D286-3752C11AE517}"/>
              </a:ext>
            </a:extLst>
          </p:cNvPr>
          <p:cNvSpPr txBox="1"/>
          <p:nvPr/>
        </p:nvSpPr>
        <p:spPr>
          <a:xfrm>
            <a:off x="1601726" y="5502784"/>
            <a:ext cx="3093989" cy="400110"/>
          </a:xfrm>
          <a:prstGeom prst="rect">
            <a:avLst/>
          </a:prstGeom>
          <a:noFill/>
        </p:spPr>
        <p:txBody>
          <a:bodyPr wrap="none" rtlCol="0">
            <a:spAutoFit/>
          </a:bodyPr>
          <a:lstStyle/>
          <a:p>
            <a:r>
              <a:rPr lang="en-IN" sz="2000" b="1" dirty="0"/>
              <a:t>Average Bill – 3212.5114</a:t>
            </a:r>
          </a:p>
        </p:txBody>
      </p:sp>
    </p:spTree>
    <p:extLst>
      <p:ext uri="{BB962C8B-B14F-4D97-AF65-F5344CB8AC3E}">
        <p14:creationId xmlns:p14="http://schemas.microsoft.com/office/powerpoint/2010/main" val="2881887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FED50F-74FD-4BB5-445A-987FA4AB9ACD}"/>
              </a:ext>
            </a:extLst>
          </p:cNvPr>
          <p:cNvSpPr txBox="1"/>
          <p:nvPr/>
        </p:nvSpPr>
        <p:spPr>
          <a:xfrm>
            <a:off x="2589087" y="318498"/>
            <a:ext cx="6176819" cy="646331"/>
          </a:xfrm>
          <a:prstGeom prst="rect">
            <a:avLst/>
          </a:prstGeom>
          <a:noFill/>
        </p:spPr>
        <p:txBody>
          <a:bodyPr wrap="none" rtlCol="0">
            <a:spAutoFit/>
          </a:bodyPr>
          <a:lstStyle/>
          <a:p>
            <a:r>
              <a:rPr lang="en-IN" sz="3600" b="1" dirty="0">
                <a:effectLst>
                  <a:outerShdw blurRad="38100" dist="38100" dir="2700000" algn="tl">
                    <a:srgbClr val="000000">
                      <a:alpha val="43137"/>
                    </a:srgbClr>
                  </a:outerShdw>
                </a:effectLst>
              </a:rPr>
              <a:t>Number of Children VS Bill</a:t>
            </a:r>
            <a:endParaRPr lang="en-IN" sz="4000" b="1"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7AAD36B5-A9B0-131F-774A-859B8A039475}"/>
              </a:ext>
            </a:extLst>
          </p:cNvPr>
          <p:cNvSpPr txBox="1"/>
          <p:nvPr/>
        </p:nvSpPr>
        <p:spPr>
          <a:xfrm>
            <a:off x="501113" y="1116501"/>
            <a:ext cx="802207" cy="369332"/>
          </a:xfrm>
          <a:prstGeom prst="rect">
            <a:avLst/>
          </a:prstGeom>
          <a:noFill/>
        </p:spPr>
        <p:txBody>
          <a:bodyPr wrap="none" rtlCol="0">
            <a:spAutoFit/>
          </a:bodyPr>
          <a:lstStyle/>
          <a:p>
            <a:r>
              <a:rPr lang="en-IN" dirty="0"/>
              <a:t>Day- 1</a:t>
            </a:r>
          </a:p>
        </p:txBody>
      </p:sp>
      <p:pic>
        <p:nvPicPr>
          <p:cNvPr id="9" name="Picture 8">
            <a:extLst>
              <a:ext uri="{FF2B5EF4-FFF2-40B4-BE49-F238E27FC236}">
                <a16:creationId xmlns:a16="http://schemas.microsoft.com/office/drawing/2014/main" id="{A790FF87-0BBC-C33B-7F6D-2FA3812EBE2C}"/>
              </a:ext>
            </a:extLst>
          </p:cNvPr>
          <p:cNvPicPr>
            <a:picLocks noChangeAspect="1"/>
          </p:cNvPicPr>
          <p:nvPr/>
        </p:nvPicPr>
        <p:blipFill>
          <a:blip r:embed="rId2"/>
          <a:stretch>
            <a:fillRect/>
          </a:stretch>
        </p:blipFill>
        <p:spPr>
          <a:xfrm>
            <a:off x="371867" y="1575950"/>
            <a:ext cx="4434440" cy="3162584"/>
          </a:xfrm>
          <a:prstGeom prst="rect">
            <a:avLst/>
          </a:prstGeom>
          <a:ln w="19050">
            <a:solidFill>
              <a:schemeClr val="tx1"/>
            </a:solidFill>
          </a:ln>
        </p:spPr>
      </p:pic>
      <p:pic>
        <p:nvPicPr>
          <p:cNvPr id="14" name="Picture 13">
            <a:extLst>
              <a:ext uri="{FF2B5EF4-FFF2-40B4-BE49-F238E27FC236}">
                <a16:creationId xmlns:a16="http://schemas.microsoft.com/office/drawing/2014/main" id="{FFA03D32-E0D7-E8A6-275F-1D658870A0C5}"/>
              </a:ext>
            </a:extLst>
          </p:cNvPr>
          <p:cNvPicPr>
            <a:picLocks noChangeAspect="1"/>
          </p:cNvPicPr>
          <p:nvPr/>
        </p:nvPicPr>
        <p:blipFill>
          <a:blip r:embed="rId3"/>
          <a:stretch>
            <a:fillRect/>
          </a:stretch>
        </p:blipFill>
        <p:spPr>
          <a:xfrm>
            <a:off x="6695768" y="1646837"/>
            <a:ext cx="4980428" cy="3091697"/>
          </a:xfrm>
          <a:prstGeom prst="rect">
            <a:avLst/>
          </a:prstGeom>
          <a:ln w="19050">
            <a:solidFill>
              <a:schemeClr val="tx1"/>
            </a:solidFill>
          </a:ln>
        </p:spPr>
      </p:pic>
      <p:sp>
        <p:nvSpPr>
          <p:cNvPr id="16" name="TextBox 15">
            <a:extLst>
              <a:ext uri="{FF2B5EF4-FFF2-40B4-BE49-F238E27FC236}">
                <a16:creationId xmlns:a16="http://schemas.microsoft.com/office/drawing/2014/main" id="{F1DF100C-873F-D79B-407B-D70DC0A10EA0}"/>
              </a:ext>
            </a:extLst>
          </p:cNvPr>
          <p:cNvSpPr txBox="1"/>
          <p:nvPr/>
        </p:nvSpPr>
        <p:spPr>
          <a:xfrm>
            <a:off x="5383658" y="1206618"/>
            <a:ext cx="6102848" cy="369332"/>
          </a:xfrm>
          <a:prstGeom prst="rect">
            <a:avLst/>
          </a:prstGeom>
          <a:noFill/>
        </p:spPr>
        <p:txBody>
          <a:bodyPr wrap="square">
            <a:spAutoFit/>
          </a:bodyPr>
          <a:lstStyle/>
          <a:p>
            <a:r>
              <a:rPr lang="en-IN" dirty="0"/>
              <a:t>Day -2</a:t>
            </a:r>
          </a:p>
        </p:txBody>
      </p:sp>
      <p:sp>
        <p:nvSpPr>
          <p:cNvPr id="4" name="TextBox 3">
            <a:extLst>
              <a:ext uri="{FF2B5EF4-FFF2-40B4-BE49-F238E27FC236}">
                <a16:creationId xmlns:a16="http://schemas.microsoft.com/office/drawing/2014/main" id="{EE862399-CF33-F98C-5E99-CE4B53BAA4F2}"/>
              </a:ext>
            </a:extLst>
          </p:cNvPr>
          <p:cNvSpPr txBox="1"/>
          <p:nvPr/>
        </p:nvSpPr>
        <p:spPr>
          <a:xfrm>
            <a:off x="1500027" y="5085992"/>
            <a:ext cx="2335576" cy="400110"/>
          </a:xfrm>
          <a:prstGeom prst="rect">
            <a:avLst/>
          </a:prstGeom>
          <a:noFill/>
        </p:spPr>
        <p:txBody>
          <a:bodyPr wrap="none" rtlCol="0">
            <a:spAutoFit/>
          </a:bodyPr>
          <a:lstStyle/>
          <a:p>
            <a:r>
              <a:rPr lang="en-IN" sz="2000" b="1" dirty="0"/>
              <a:t>R-Squared – 0.653</a:t>
            </a:r>
          </a:p>
        </p:txBody>
      </p:sp>
      <p:sp>
        <p:nvSpPr>
          <p:cNvPr id="5" name="TextBox 4">
            <a:extLst>
              <a:ext uri="{FF2B5EF4-FFF2-40B4-BE49-F238E27FC236}">
                <a16:creationId xmlns:a16="http://schemas.microsoft.com/office/drawing/2014/main" id="{59ABEA55-92A8-1BE1-BDF6-E0FA86508B04}"/>
              </a:ext>
            </a:extLst>
          </p:cNvPr>
          <p:cNvSpPr txBox="1"/>
          <p:nvPr/>
        </p:nvSpPr>
        <p:spPr>
          <a:xfrm>
            <a:off x="8126859" y="5116770"/>
            <a:ext cx="2335576" cy="400110"/>
          </a:xfrm>
          <a:prstGeom prst="rect">
            <a:avLst/>
          </a:prstGeom>
          <a:noFill/>
        </p:spPr>
        <p:txBody>
          <a:bodyPr wrap="none" rtlCol="0">
            <a:spAutoFit/>
          </a:bodyPr>
          <a:lstStyle/>
          <a:p>
            <a:r>
              <a:rPr lang="en-IN" sz="2000" b="1" dirty="0"/>
              <a:t>R-Squared – 0.653</a:t>
            </a:r>
          </a:p>
        </p:txBody>
      </p:sp>
      <p:sp>
        <p:nvSpPr>
          <p:cNvPr id="6" name="TextBox 5">
            <a:extLst>
              <a:ext uri="{FF2B5EF4-FFF2-40B4-BE49-F238E27FC236}">
                <a16:creationId xmlns:a16="http://schemas.microsoft.com/office/drawing/2014/main" id="{CE42535B-AB6E-B9E5-D102-715EC1B5F63E}"/>
              </a:ext>
            </a:extLst>
          </p:cNvPr>
          <p:cNvSpPr txBox="1"/>
          <p:nvPr/>
        </p:nvSpPr>
        <p:spPr>
          <a:xfrm>
            <a:off x="1500027" y="5648894"/>
            <a:ext cx="3093989" cy="400110"/>
          </a:xfrm>
          <a:prstGeom prst="rect">
            <a:avLst/>
          </a:prstGeom>
          <a:noFill/>
        </p:spPr>
        <p:txBody>
          <a:bodyPr wrap="none" rtlCol="0">
            <a:spAutoFit/>
          </a:bodyPr>
          <a:lstStyle/>
          <a:p>
            <a:r>
              <a:rPr lang="en-IN" sz="2000" b="1" dirty="0"/>
              <a:t>Average Bill – 2037.4608</a:t>
            </a:r>
          </a:p>
        </p:txBody>
      </p:sp>
      <p:sp>
        <p:nvSpPr>
          <p:cNvPr id="7" name="TextBox 6">
            <a:extLst>
              <a:ext uri="{FF2B5EF4-FFF2-40B4-BE49-F238E27FC236}">
                <a16:creationId xmlns:a16="http://schemas.microsoft.com/office/drawing/2014/main" id="{FFC4DCD4-BC9B-4809-FE93-3A7A2B89D06F}"/>
              </a:ext>
            </a:extLst>
          </p:cNvPr>
          <p:cNvSpPr txBox="1"/>
          <p:nvPr/>
        </p:nvSpPr>
        <p:spPr>
          <a:xfrm>
            <a:off x="8179277" y="5595228"/>
            <a:ext cx="2980175" cy="400110"/>
          </a:xfrm>
          <a:prstGeom prst="rect">
            <a:avLst/>
          </a:prstGeom>
          <a:noFill/>
        </p:spPr>
        <p:txBody>
          <a:bodyPr wrap="none" rtlCol="0">
            <a:spAutoFit/>
          </a:bodyPr>
          <a:lstStyle/>
          <a:p>
            <a:r>
              <a:rPr lang="en-IN" sz="2000" b="1" dirty="0"/>
              <a:t>Average Bill -3306.0137</a:t>
            </a:r>
          </a:p>
        </p:txBody>
      </p:sp>
    </p:spTree>
    <p:extLst>
      <p:ext uri="{BB962C8B-B14F-4D97-AF65-F5344CB8AC3E}">
        <p14:creationId xmlns:p14="http://schemas.microsoft.com/office/powerpoint/2010/main" val="789961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234D20D-F6F0-8430-6D7E-307DB484F59A}"/>
              </a:ext>
            </a:extLst>
          </p:cNvPr>
          <p:cNvSpPr txBox="1"/>
          <p:nvPr/>
        </p:nvSpPr>
        <p:spPr>
          <a:xfrm>
            <a:off x="1010703" y="373670"/>
            <a:ext cx="802207" cy="369332"/>
          </a:xfrm>
          <a:prstGeom prst="rect">
            <a:avLst/>
          </a:prstGeom>
          <a:noFill/>
        </p:spPr>
        <p:txBody>
          <a:bodyPr wrap="none" rtlCol="0">
            <a:spAutoFit/>
          </a:bodyPr>
          <a:lstStyle/>
          <a:p>
            <a:r>
              <a:rPr lang="en-IN" dirty="0"/>
              <a:t>Day- 3</a:t>
            </a:r>
          </a:p>
        </p:txBody>
      </p:sp>
      <p:pic>
        <p:nvPicPr>
          <p:cNvPr id="10" name="Picture 9">
            <a:extLst>
              <a:ext uri="{FF2B5EF4-FFF2-40B4-BE49-F238E27FC236}">
                <a16:creationId xmlns:a16="http://schemas.microsoft.com/office/drawing/2014/main" id="{0BB6FB8E-1241-6993-DE31-E201576384F0}"/>
              </a:ext>
            </a:extLst>
          </p:cNvPr>
          <p:cNvPicPr>
            <a:picLocks noChangeAspect="1"/>
          </p:cNvPicPr>
          <p:nvPr/>
        </p:nvPicPr>
        <p:blipFill>
          <a:blip r:embed="rId2"/>
          <a:stretch>
            <a:fillRect/>
          </a:stretch>
        </p:blipFill>
        <p:spPr>
          <a:xfrm>
            <a:off x="1010703" y="873255"/>
            <a:ext cx="3923535" cy="3652463"/>
          </a:xfrm>
          <a:prstGeom prst="rect">
            <a:avLst/>
          </a:prstGeom>
          <a:ln w="19050">
            <a:solidFill>
              <a:schemeClr val="tx1"/>
            </a:solidFill>
          </a:ln>
        </p:spPr>
      </p:pic>
      <p:sp>
        <p:nvSpPr>
          <p:cNvPr id="11" name="TextBox 10">
            <a:extLst>
              <a:ext uri="{FF2B5EF4-FFF2-40B4-BE49-F238E27FC236}">
                <a16:creationId xmlns:a16="http://schemas.microsoft.com/office/drawing/2014/main" id="{7A1039B3-7378-6DA6-538A-744CBE0997AE}"/>
              </a:ext>
            </a:extLst>
          </p:cNvPr>
          <p:cNvSpPr txBox="1"/>
          <p:nvPr/>
        </p:nvSpPr>
        <p:spPr>
          <a:xfrm>
            <a:off x="7017814" y="373670"/>
            <a:ext cx="866327" cy="369332"/>
          </a:xfrm>
          <a:prstGeom prst="rect">
            <a:avLst/>
          </a:prstGeom>
          <a:noFill/>
        </p:spPr>
        <p:txBody>
          <a:bodyPr wrap="none" rtlCol="0">
            <a:spAutoFit/>
          </a:bodyPr>
          <a:lstStyle/>
          <a:p>
            <a:r>
              <a:rPr lang="en-IN" dirty="0"/>
              <a:t>Day - 4</a:t>
            </a:r>
          </a:p>
        </p:txBody>
      </p:sp>
      <p:pic>
        <p:nvPicPr>
          <p:cNvPr id="13" name="Picture 12">
            <a:extLst>
              <a:ext uri="{FF2B5EF4-FFF2-40B4-BE49-F238E27FC236}">
                <a16:creationId xmlns:a16="http://schemas.microsoft.com/office/drawing/2014/main" id="{E9A49CE7-3D94-A8B1-9BB3-5CDCD41A8B41}"/>
              </a:ext>
            </a:extLst>
          </p:cNvPr>
          <p:cNvPicPr>
            <a:picLocks noChangeAspect="1"/>
          </p:cNvPicPr>
          <p:nvPr/>
        </p:nvPicPr>
        <p:blipFill>
          <a:blip r:embed="rId3"/>
          <a:stretch>
            <a:fillRect/>
          </a:stretch>
        </p:blipFill>
        <p:spPr>
          <a:xfrm>
            <a:off x="7069573" y="837344"/>
            <a:ext cx="4007073" cy="3652463"/>
          </a:xfrm>
          <a:prstGeom prst="rect">
            <a:avLst/>
          </a:prstGeom>
          <a:ln w="19050">
            <a:solidFill>
              <a:schemeClr val="tx1"/>
            </a:solidFill>
          </a:ln>
        </p:spPr>
      </p:pic>
      <p:sp>
        <p:nvSpPr>
          <p:cNvPr id="2" name="TextBox 1">
            <a:extLst>
              <a:ext uri="{FF2B5EF4-FFF2-40B4-BE49-F238E27FC236}">
                <a16:creationId xmlns:a16="http://schemas.microsoft.com/office/drawing/2014/main" id="{E5C48B25-75FA-A43F-F0B5-144F562EFA61}"/>
              </a:ext>
            </a:extLst>
          </p:cNvPr>
          <p:cNvSpPr txBox="1"/>
          <p:nvPr/>
        </p:nvSpPr>
        <p:spPr>
          <a:xfrm>
            <a:off x="1411806" y="5016152"/>
            <a:ext cx="2335576" cy="400110"/>
          </a:xfrm>
          <a:prstGeom prst="rect">
            <a:avLst/>
          </a:prstGeom>
          <a:noFill/>
        </p:spPr>
        <p:txBody>
          <a:bodyPr wrap="none" rtlCol="0">
            <a:spAutoFit/>
          </a:bodyPr>
          <a:lstStyle/>
          <a:p>
            <a:r>
              <a:rPr lang="en-IN" sz="2000" b="1" dirty="0"/>
              <a:t>R-Squared – 0.644</a:t>
            </a:r>
          </a:p>
        </p:txBody>
      </p:sp>
      <p:sp>
        <p:nvSpPr>
          <p:cNvPr id="3" name="TextBox 2">
            <a:extLst>
              <a:ext uri="{FF2B5EF4-FFF2-40B4-BE49-F238E27FC236}">
                <a16:creationId xmlns:a16="http://schemas.microsoft.com/office/drawing/2014/main" id="{D9878D60-457B-EF8D-BE36-B0EBC0D3D9DC}"/>
              </a:ext>
            </a:extLst>
          </p:cNvPr>
          <p:cNvSpPr txBox="1"/>
          <p:nvPr/>
        </p:nvSpPr>
        <p:spPr>
          <a:xfrm>
            <a:off x="8013843" y="5016152"/>
            <a:ext cx="2335576" cy="400110"/>
          </a:xfrm>
          <a:prstGeom prst="rect">
            <a:avLst/>
          </a:prstGeom>
          <a:noFill/>
        </p:spPr>
        <p:txBody>
          <a:bodyPr wrap="none" rtlCol="0">
            <a:spAutoFit/>
          </a:bodyPr>
          <a:lstStyle/>
          <a:p>
            <a:r>
              <a:rPr lang="en-IN" sz="2000" b="1" dirty="0"/>
              <a:t>R-Squared – 0.765</a:t>
            </a:r>
          </a:p>
        </p:txBody>
      </p:sp>
      <p:sp>
        <p:nvSpPr>
          <p:cNvPr id="4" name="TextBox 3">
            <a:extLst>
              <a:ext uri="{FF2B5EF4-FFF2-40B4-BE49-F238E27FC236}">
                <a16:creationId xmlns:a16="http://schemas.microsoft.com/office/drawing/2014/main" id="{037895DF-2CFC-2ED3-799D-3B9BE015DFE7}"/>
              </a:ext>
            </a:extLst>
          </p:cNvPr>
          <p:cNvSpPr txBox="1"/>
          <p:nvPr/>
        </p:nvSpPr>
        <p:spPr>
          <a:xfrm>
            <a:off x="1411806" y="5584635"/>
            <a:ext cx="3093989" cy="400110"/>
          </a:xfrm>
          <a:prstGeom prst="rect">
            <a:avLst/>
          </a:prstGeom>
          <a:noFill/>
        </p:spPr>
        <p:txBody>
          <a:bodyPr wrap="none" rtlCol="0">
            <a:spAutoFit/>
          </a:bodyPr>
          <a:lstStyle/>
          <a:p>
            <a:r>
              <a:rPr lang="en-IN" sz="2000" b="1" dirty="0"/>
              <a:t>Average Bill – 3122.3570</a:t>
            </a:r>
          </a:p>
        </p:txBody>
      </p:sp>
      <p:sp>
        <p:nvSpPr>
          <p:cNvPr id="5" name="TextBox 4">
            <a:extLst>
              <a:ext uri="{FF2B5EF4-FFF2-40B4-BE49-F238E27FC236}">
                <a16:creationId xmlns:a16="http://schemas.microsoft.com/office/drawing/2014/main" id="{DC863D9F-C188-F857-15E2-2519EE8CC1E0}"/>
              </a:ext>
            </a:extLst>
          </p:cNvPr>
          <p:cNvSpPr txBox="1"/>
          <p:nvPr/>
        </p:nvSpPr>
        <p:spPr>
          <a:xfrm>
            <a:off x="7982657" y="5492024"/>
            <a:ext cx="3093989" cy="400110"/>
          </a:xfrm>
          <a:prstGeom prst="rect">
            <a:avLst/>
          </a:prstGeom>
          <a:noFill/>
        </p:spPr>
        <p:txBody>
          <a:bodyPr wrap="none" rtlCol="0">
            <a:spAutoFit/>
          </a:bodyPr>
          <a:lstStyle/>
          <a:p>
            <a:r>
              <a:rPr lang="en-IN" sz="2000" b="1" dirty="0"/>
              <a:t>Average Bill – 3370.2120</a:t>
            </a:r>
          </a:p>
        </p:txBody>
      </p:sp>
    </p:spTree>
    <p:extLst>
      <p:ext uri="{BB962C8B-B14F-4D97-AF65-F5344CB8AC3E}">
        <p14:creationId xmlns:p14="http://schemas.microsoft.com/office/powerpoint/2010/main" val="4210666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DC24F5A-F507-0019-E92C-33ED8732885C}"/>
              </a:ext>
            </a:extLst>
          </p:cNvPr>
          <p:cNvPicPr>
            <a:picLocks noChangeAspect="1"/>
          </p:cNvPicPr>
          <p:nvPr/>
        </p:nvPicPr>
        <p:blipFill>
          <a:blip r:embed="rId2"/>
          <a:stretch>
            <a:fillRect/>
          </a:stretch>
        </p:blipFill>
        <p:spPr>
          <a:xfrm>
            <a:off x="1334418" y="772053"/>
            <a:ext cx="4333312" cy="3652463"/>
          </a:xfrm>
          <a:prstGeom prst="rect">
            <a:avLst/>
          </a:prstGeom>
          <a:ln w="19050">
            <a:solidFill>
              <a:schemeClr val="tx1"/>
            </a:solidFill>
          </a:ln>
        </p:spPr>
      </p:pic>
      <p:sp>
        <p:nvSpPr>
          <p:cNvPr id="14" name="TextBox 13">
            <a:extLst>
              <a:ext uri="{FF2B5EF4-FFF2-40B4-BE49-F238E27FC236}">
                <a16:creationId xmlns:a16="http://schemas.microsoft.com/office/drawing/2014/main" id="{8D323A92-6ABA-C881-FCD4-ABF5972DD46D}"/>
              </a:ext>
            </a:extLst>
          </p:cNvPr>
          <p:cNvSpPr txBox="1"/>
          <p:nvPr/>
        </p:nvSpPr>
        <p:spPr>
          <a:xfrm>
            <a:off x="933315" y="312183"/>
            <a:ext cx="802207" cy="369332"/>
          </a:xfrm>
          <a:prstGeom prst="rect">
            <a:avLst/>
          </a:prstGeom>
          <a:noFill/>
        </p:spPr>
        <p:txBody>
          <a:bodyPr wrap="none" rtlCol="0">
            <a:spAutoFit/>
          </a:bodyPr>
          <a:lstStyle/>
          <a:p>
            <a:r>
              <a:rPr lang="en-IN" dirty="0"/>
              <a:t>Day- 5</a:t>
            </a:r>
          </a:p>
        </p:txBody>
      </p:sp>
      <p:sp>
        <p:nvSpPr>
          <p:cNvPr id="2" name="TextBox 1">
            <a:extLst>
              <a:ext uri="{FF2B5EF4-FFF2-40B4-BE49-F238E27FC236}">
                <a16:creationId xmlns:a16="http://schemas.microsoft.com/office/drawing/2014/main" id="{4FD95C7B-B78E-A4AE-99EF-51A68FFF286C}"/>
              </a:ext>
            </a:extLst>
          </p:cNvPr>
          <p:cNvSpPr txBox="1"/>
          <p:nvPr/>
        </p:nvSpPr>
        <p:spPr>
          <a:xfrm>
            <a:off x="6357124" y="312183"/>
            <a:ext cx="5014452" cy="4801314"/>
          </a:xfrm>
          <a:prstGeom prst="rect">
            <a:avLst/>
          </a:prstGeom>
          <a:noFill/>
        </p:spPr>
        <p:txBody>
          <a:bodyPr wrap="square" rtlCol="0">
            <a:spAutoFit/>
          </a:bodyPr>
          <a:lstStyle/>
          <a:p>
            <a:r>
              <a:rPr lang="en-IN" b="1" u="sng" dirty="0"/>
              <a:t>OBSERVATIONS</a:t>
            </a:r>
          </a:p>
          <a:p>
            <a:endParaRPr lang="en-IN" b="1" u="sng" dirty="0"/>
          </a:p>
          <a:p>
            <a:pPr marL="285750" indent="-285750">
              <a:buFont typeface="Arial" panose="020B0604020202020204" pitchFamily="34" charset="0"/>
              <a:buChar char="•"/>
            </a:pPr>
            <a:r>
              <a:rPr lang="en-IN" dirty="0"/>
              <a:t>Based on the R- Squared values we can say that the model is a good fit on day 4 as its value is 0.765.</a:t>
            </a:r>
          </a:p>
          <a:p>
            <a:endParaRPr lang="en-US" dirty="0"/>
          </a:p>
          <a:p>
            <a:pPr marL="285750" indent="-285750">
              <a:buFont typeface="Arial" panose="020B0604020202020204" pitchFamily="34" charset="0"/>
              <a:buChar char="•"/>
            </a:pPr>
            <a:r>
              <a:rPr lang="en-US" dirty="0"/>
              <a:t>76.5% of the changes or differences in the "Bill" amount can be attributed to the variables “Number of children“.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remaining 23.5% of the variance is due to other factors not included in the model or randomness.</a:t>
            </a:r>
            <a:endParaRPr lang="en-I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We can also observe Day 5 has the highest average bill. Hence the restaurant should introduce child-centric offers and discounts. </a:t>
            </a:r>
            <a:endParaRPr lang="en-IN" dirty="0"/>
          </a:p>
        </p:txBody>
      </p:sp>
      <p:sp>
        <p:nvSpPr>
          <p:cNvPr id="3" name="TextBox 2">
            <a:extLst>
              <a:ext uri="{FF2B5EF4-FFF2-40B4-BE49-F238E27FC236}">
                <a16:creationId xmlns:a16="http://schemas.microsoft.com/office/drawing/2014/main" id="{67B32B20-F246-0427-7AC9-43DA8791B1F5}"/>
              </a:ext>
            </a:extLst>
          </p:cNvPr>
          <p:cNvSpPr txBox="1"/>
          <p:nvPr/>
        </p:nvSpPr>
        <p:spPr>
          <a:xfrm>
            <a:off x="1735522" y="5075434"/>
            <a:ext cx="2335576" cy="400110"/>
          </a:xfrm>
          <a:prstGeom prst="rect">
            <a:avLst/>
          </a:prstGeom>
          <a:noFill/>
        </p:spPr>
        <p:txBody>
          <a:bodyPr wrap="none" rtlCol="0">
            <a:spAutoFit/>
          </a:bodyPr>
          <a:lstStyle/>
          <a:p>
            <a:r>
              <a:rPr lang="en-IN" sz="2000" b="1" dirty="0"/>
              <a:t>R-Squared – 0.665</a:t>
            </a:r>
          </a:p>
        </p:txBody>
      </p:sp>
      <p:sp>
        <p:nvSpPr>
          <p:cNvPr id="4" name="TextBox 3">
            <a:extLst>
              <a:ext uri="{FF2B5EF4-FFF2-40B4-BE49-F238E27FC236}">
                <a16:creationId xmlns:a16="http://schemas.microsoft.com/office/drawing/2014/main" id="{5FE96529-7D0E-A540-561F-64CE2DD98B51}"/>
              </a:ext>
            </a:extLst>
          </p:cNvPr>
          <p:cNvSpPr txBox="1"/>
          <p:nvPr/>
        </p:nvSpPr>
        <p:spPr>
          <a:xfrm>
            <a:off x="1735522" y="5475544"/>
            <a:ext cx="3050707" cy="400110"/>
          </a:xfrm>
          <a:prstGeom prst="rect">
            <a:avLst/>
          </a:prstGeom>
          <a:noFill/>
        </p:spPr>
        <p:txBody>
          <a:bodyPr wrap="none" rtlCol="0">
            <a:spAutoFit/>
          </a:bodyPr>
          <a:lstStyle/>
          <a:p>
            <a:r>
              <a:rPr lang="en-IN" sz="2000" b="1" dirty="0"/>
              <a:t>Average Bill - 3701.2870</a:t>
            </a:r>
          </a:p>
        </p:txBody>
      </p:sp>
    </p:spTree>
    <p:extLst>
      <p:ext uri="{BB962C8B-B14F-4D97-AF65-F5344CB8AC3E}">
        <p14:creationId xmlns:p14="http://schemas.microsoft.com/office/powerpoint/2010/main" val="863857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3FA0E3-5AE7-81D7-B112-ABDBDF5E2E7A}"/>
              </a:ext>
            </a:extLst>
          </p:cNvPr>
          <p:cNvSpPr txBox="1"/>
          <p:nvPr/>
        </p:nvSpPr>
        <p:spPr>
          <a:xfrm>
            <a:off x="1081548" y="229114"/>
            <a:ext cx="10481716" cy="646331"/>
          </a:xfrm>
          <a:prstGeom prst="rect">
            <a:avLst/>
          </a:prstGeom>
          <a:noFill/>
        </p:spPr>
        <p:txBody>
          <a:bodyPr wrap="none" rtlCol="0">
            <a:spAutoFit/>
          </a:bodyPr>
          <a:lstStyle/>
          <a:p>
            <a:r>
              <a:rPr lang="en-IN" sz="3600" b="1" dirty="0">
                <a:effectLst>
                  <a:outerShdw blurRad="38100" dist="38100" dir="2700000" algn="tl">
                    <a:srgbClr val="000000">
                      <a:alpha val="43137"/>
                    </a:srgbClr>
                  </a:outerShdw>
                </a:effectLst>
              </a:rPr>
              <a:t>Calculating maximum and average waiting time</a:t>
            </a:r>
            <a:endParaRPr lang="en-IN" sz="4000" b="1" dirty="0">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BCCEE323-BA86-797F-A9B8-CD60E9186247}"/>
              </a:ext>
            </a:extLst>
          </p:cNvPr>
          <p:cNvPicPr>
            <a:picLocks noChangeAspect="1"/>
          </p:cNvPicPr>
          <p:nvPr/>
        </p:nvPicPr>
        <p:blipFill>
          <a:blip r:embed="rId2"/>
          <a:stretch>
            <a:fillRect/>
          </a:stretch>
        </p:blipFill>
        <p:spPr>
          <a:xfrm>
            <a:off x="6967625" y="1753541"/>
            <a:ext cx="3184903" cy="1914791"/>
          </a:xfrm>
          <a:prstGeom prst="rect">
            <a:avLst/>
          </a:prstGeom>
        </p:spPr>
      </p:pic>
      <p:sp>
        <p:nvSpPr>
          <p:cNvPr id="5" name="TextBox 4">
            <a:extLst>
              <a:ext uri="{FF2B5EF4-FFF2-40B4-BE49-F238E27FC236}">
                <a16:creationId xmlns:a16="http://schemas.microsoft.com/office/drawing/2014/main" id="{CFB61E45-CEFC-ED92-BBDA-23D7FC084EEA}"/>
              </a:ext>
            </a:extLst>
          </p:cNvPr>
          <p:cNvSpPr txBox="1"/>
          <p:nvPr/>
        </p:nvSpPr>
        <p:spPr>
          <a:xfrm>
            <a:off x="1081548" y="1282674"/>
            <a:ext cx="2084439" cy="369332"/>
          </a:xfrm>
          <a:prstGeom prst="rect">
            <a:avLst/>
          </a:prstGeom>
          <a:noFill/>
        </p:spPr>
        <p:txBody>
          <a:bodyPr wrap="square" rtlCol="0">
            <a:spAutoFit/>
          </a:bodyPr>
          <a:lstStyle/>
          <a:p>
            <a:r>
              <a:rPr lang="en-IN" dirty="0"/>
              <a:t>DAY – 1</a:t>
            </a:r>
          </a:p>
        </p:txBody>
      </p:sp>
      <p:pic>
        <p:nvPicPr>
          <p:cNvPr id="7" name="Picture 6">
            <a:extLst>
              <a:ext uri="{FF2B5EF4-FFF2-40B4-BE49-F238E27FC236}">
                <a16:creationId xmlns:a16="http://schemas.microsoft.com/office/drawing/2014/main" id="{2F9DDBD8-BC28-333D-9C9E-F09B5611A2EE}"/>
              </a:ext>
            </a:extLst>
          </p:cNvPr>
          <p:cNvPicPr>
            <a:picLocks noChangeAspect="1"/>
          </p:cNvPicPr>
          <p:nvPr/>
        </p:nvPicPr>
        <p:blipFill>
          <a:blip r:embed="rId3"/>
          <a:stretch>
            <a:fillRect/>
          </a:stretch>
        </p:blipFill>
        <p:spPr>
          <a:xfrm>
            <a:off x="1001586" y="1753542"/>
            <a:ext cx="3286584" cy="1914792"/>
          </a:xfrm>
          <a:prstGeom prst="rect">
            <a:avLst/>
          </a:prstGeom>
        </p:spPr>
      </p:pic>
      <p:sp>
        <p:nvSpPr>
          <p:cNvPr id="10" name="TextBox 9">
            <a:extLst>
              <a:ext uri="{FF2B5EF4-FFF2-40B4-BE49-F238E27FC236}">
                <a16:creationId xmlns:a16="http://schemas.microsoft.com/office/drawing/2014/main" id="{5173D86D-3D08-FDCE-F7DA-9414E5DC1E10}"/>
              </a:ext>
            </a:extLst>
          </p:cNvPr>
          <p:cNvSpPr txBox="1"/>
          <p:nvPr/>
        </p:nvSpPr>
        <p:spPr>
          <a:xfrm>
            <a:off x="7192297" y="1376081"/>
            <a:ext cx="2084439" cy="369332"/>
          </a:xfrm>
          <a:prstGeom prst="rect">
            <a:avLst/>
          </a:prstGeom>
          <a:noFill/>
        </p:spPr>
        <p:txBody>
          <a:bodyPr wrap="square" rtlCol="0">
            <a:spAutoFit/>
          </a:bodyPr>
          <a:lstStyle/>
          <a:p>
            <a:r>
              <a:rPr lang="en-IN" dirty="0"/>
              <a:t>DAY -2</a:t>
            </a:r>
          </a:p>
        </p:txBody>
      </p:sp>
      <p:pic>
        <p:nvPicPr>
          <p:cNvPr id="12" name="Picture 11">
            <a:extLst>
              <a:ext uri="{FF2B5EF4-FFF2-40B4-BE49-F238E27FC236}">
                <a16:creationId xmlns:a16="http://schemas.microsoft.com/office/drawing/2014/main" id="{55C7CBCC-B0C9-3FF5-2973-492258B196CB}"/>
              </a:ext>
            </a:extLst>
          </p:cNvPr>
          <p:cNvPicPr>
            <a:picLocks noChangeAspect="1"/>
          </p:cNvPicPr>
          <p:nvPr/>
        </p:nvPicPr>
        <p:blipFill>
          <a:blip r:embed="rId4"/>
          <a:stretch>
            <a:fillRect/>
          </a:stretch>
        </p:blipFill>
        <p:spPr>
          <a:xfrm>
            <a:off x="4288170" y="4398726"/>
            <a:ext cx="3248478" cy="1914792"/>
          </a:xfrm>
          <a:prstGeom prst="rect">
            <a:avLst/>
          </a:prstGeom>
        </p:spPr>
      </p:pic>
      <p:sp>
        <p:nvSpPr>
          <p:cNvPr id="13" name="TextBox 12">
            <a:extLst>
              <a:ext uri="{FF2B5EF4-FFF2-40B4-BE49-F238E27FC236}">
                <a16:creationId xmlns:a16="http://schemas.microsoft.com/office/drawing/2014/main" id="{EEBF9292-79FE-82F9-669E-3936CEAD6F86}"/>
              </a:ext>
            </a:extLst>
          </p:cNvPr>
          <p:cNvSpPr txBox="1"/>
          <p:nvPr/>
        </p:nvSpPr>
        <p:spPr>
          <a:xfrm>
            <a:off x="4870189" y="3848863"/>
            <a:ext cx="2084439" cy="369332"/>
          </a:xfrm>
          <a:prstGeom prst="rect">
            <a:avLst/>
          </a:prstGeom>
          <a:noFill/>
        </p:spPr>
        <p:txBody>
          <a:bodyPr wrap="square" rtlCol="0">
            <a:spAutoFit/>
          </a:bodyPr>
          <a:lstStyle/>
          <a:p>
            <a:r>
              <a:rPr lang="en-IN" dirty="0"/>
              <a:t>DAY -3</a:t>
            </a:r>
          </a:p>
        </p:txBody>
      </p:sp>
    </p:spTree>
    <p:extLst>
      <p:ext uri="{BB962C8B-B14F-4D97-AF65-F5344CB8AC3E}">
        <p14:creationId xmlns:p14="http://schemas.microsoft.com/office/powerpoint/2010/main" val="4280294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194AF3-5F6F-9253-56BF-B94615E1D910}"/>
              </a:ext>
            </a:extLst>
          </p:cNvPr>
          <p:cNvPicPr>
            <a:picLocks noChangeAspect="1"/>
          </p:cNvPicPr>
          <p:nvPr/>
        </p:nvPicPr>
        <p:blipFill>
          <a:blip r:embed="rId2"/>
          <a:stretch>
            <a:fillRect/>
          </a:stretch>
        </p:blipFill>
        <p:spPr>
          <a:xfrm>
            <a:off x="991447" y="899055"/>
            <a:ext cx="3267531" cy="1952898"/>
          </a:xfrm>
          <a:prstGeom prst="rect">
            <a:avLst/>
          </a:prstGeom>
        </p:spPr>
      </p:pic>
      <p:sp>
        <p:nvSpPr>
          <p:cNvPr id="2" name="TextBox 1">
            <a:extLst>
              <a:ext uri="{FF2B5EF4-FFF2-40B4-BE49-F238E27FC236}">
                <a16:creationId xmlns:a16="http://schemas.microsoft.com/office/drawing/2014/main" id="{02562696-0539-35F1-15F4-D9EC41685631}"/>
              </a:ext>
            </a:extLst>
          </p:cNvPr>
          <p:cNvSpPr txBox="1"/>
          <p:nvPr/>
        </p:nvSpPr>
        <p:spPr>
          <a:xfrm>
            <a:off x="6951406" y="370215"/>
            <a:ext cx="1917290" cy="400110"/>
          </a:xfrm>
          <a:prstGeom prst="rect">
            <a:avLst/>
          </a:prstGeom>
          <a:noFill/>
        </p:spPr>
        <p:txBody>
          <a:bodyPr wrap="square" rtlCol="0">
            <a:spAutoFit/>
          </a:bodyPr>
          <a:lstStyle/>
          <a:p>
            <a:r>
              <a:rPr lang="en-IN" sz="2000" dirty="0"/>
              <a:t>DAY - 5</a:t>
            </a:r>
          </a:p>
        </p:txBody>
      </p:sp>
      <p:pic>
        <p:nvPicPr>
          <p:cNvPr id="5" name="Picture 4">
            <a:extLst>
              <a:ext uri="{FF2B5EF4-FFF2-40B4-BE49-F238E27FC236}">
                <a16:creationId xmlns:a16="http://schemas.microsoft.com/office/drawing/2014/main" id="{E70F5D85-9FCF-B956-42DD-13CC7E3D4A9C}"/>
              </a:ext>
            </a:extLst>
          </p:cNvPr>
          <p:cNvPicPr>
            <a:picLocks noChangeAspect="1"/>
          </p:cNvPicPr>
          <p:nvPr/>
        </p:nvPicPr>
        <p:blipFill>
          <a:blip r:embed="rId3"/>
          <a:stretch>
            <a:fillRect/>
          </a:stretch>
        </p:blipFill>
        <p:spPr>
          <a:xfrm>
            <a:off x="6341807" y="916303"/>
            <a:ext cx="3628104" cy="1952898"/>
          </a:xfrm>
          <a:prstGeom prst="rect">
            <a:avLst/>
          </a:prstGeom>
        </p:spPr>
      </p:pic>
      <p:sp>
        <p:nvSpPr>
          <p:cNvPr id="6" name="TextBox 5">
            <a:extLst>
              <a:ext uri="{FF2B5EF4-FFF2-40B4-BE49-F238E27FC236}">
                <a16:creationId xmlns:a16="http://schemas.microsoft.com/office/drawing/2014/main" id="{14BBE9E8-77B6-B5DE-C888-232C66E9BEA4}"/>
              </a:ext>
            </a:extLst>
          </p:cNvPr>
          <p:cNvSpPr txBox="1"/>
          <p:nvPr/>
        </p:nvSpPr>
        <p:spPr>
          <a:xfrm>
            <a:off x="1882877" y="370215"/>
            <a:ext cx="1917290" cy="400110"/>
          </a:xfrm>
          <a:prstGeom prst="rect">
            <a:avLst/>
          </a:prstGeom>
          <a:noFill/>
        </p:spPr>
        <p:txBody>
          <a:bodyPr wrap="square" rtlCol="0">
            <a:spAutoFit/>
          </a:bodyPr>
          <a:lstStyle/>
          <a:p>
            <a:r>
              <a:rPr lang="en-IN" sz="2000" dirty="0"/>
              <a:t>DAY - 4</a:t>
            </a:r>
          </a:p>
        </p:txBody>
      </p:sp>
      <p:sp>
        <p:nvSpPr>
          <p:cNvPr id="7" name="TextBox 6">
            <a:extLst>
              <a:ext uri="{FF2B5EF4-FFF2-40B4-BE49-F238E27FC236}">
                <a16:creationId xmlns:a16="http://schemas.microsoft.com/office/drawing/2014/main" id="{95C57BB3-A6D3-40E3-2915-18F245A1154E}"/>
              </a:ext>
            </a:extLst>
          </p:cNvPr>
          <p:cNvSpPr txBox="1"/>
          <p:nvPr/>
        </p:nvSpPr>
        <p:spPr>
          <a:xfrm>
            <a:off x="403122" y="3217587"/>
            <a:ext cx="11385755" cy="2862322"/>
          </a:xfrm>
          <a:prstGeom prst="rect">
            <a:avLst/>
          </a:prstGeom>
          <a:noFill/>
        </p:spPr>
        <p:txBody>
          <a:bodyPr wrap="square" rtlCol="0">
            <a:spAutoFit/>
          </a:bodyPr>
          <a:lstStyle/>
          <a:p>
            <a:r>
              <a:rPr lang="en-IN" sz="2000" b="1" u="sng" dirty="0"/>
              <a:t>OBSERVATIONS</a:t>
            </a:r>
            <a:r>
              <a:rPr lang="en-IN" sz="2000" b="1" dirty="0"/>
              <a:t> </a:t>
            </a:r>
          </a:p>
          <a:p>
            <a:endParaRPr lang="en-IN" sz="2000" b="1" dirty="0"/>
          </a:p>
          <a:p>
            <a:pPr marL="342900" indent="-342900">
              <a:buFont typeface="Arial" panose="020B0604020202020204" pitchFamily="34" charset="0"/>
              <a:buChar char="•"/>
            </a:pPr>
            <a:r>
              <a:rPr lang="en-IN" sz="2000" dirty="0"/>
              <a:t>Maximum waiting time and average waiting time is on Day-5</a:t>
            </a:r>
            <a:endParaRPr lang="en-US" sz="2000" b="1" dirty="0"/>
          </a:p>
          <a:p>
            <a:pPr>
              <a:buFont typeface="Arial" panose="020B0604020202020204" pitchFamily="34" charset="0"/>
              <a:buChar char="•"/>
            </a:pPr>
            <a:r>
              <a:rPr lang="en-US" sz="2000" dirty="0"/>
              <a:t>    There may be a high number of customers on Day 5, leading to longer waiting times due to high demand for services, tables, or resources.</a:t>
            </a:r>
            <a:r>
              <a:rPr lang="en-US" sz="2000" b="1" dirty="0"/>
              <a:t> </a:t>
            </a:r>
            <a:r>
              <a:rPr lang="en-US" sz="2000" dirty="0"/>
              <a:t>The systems or staff may struggle to accommodate the influx of customers, resulting in delays in seating or service.</a:t>
            </a:r>
            <a:endParaRPr lang="en-US" sz="2000" b="1" dirty="0"/>
          </a:p>
          <a:p>
            <a:pPr>
              <a:buFont typeface="Arial" panose="020B0604020202020204" pitchFamily="34" charset="0"/>
              <a:buChar char="•"/>
            </a:pPr>
            <a:r>
              <a:rPr lang="en-US" sz="2000" dirty="0"/>
              <a:t>  Longer waiting times can negatively impact customer satisfaction, leading to a poorer overall experience if not managed well.</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206895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F7298A-B022-B3C2-119E-CBD7B01CEEE4}"/>
              </a:ext>
            </a:extLst>
          </p:cNvPr>
          <p:cNvSpPr txBox="1"/>
          <p:nvPr/>
        </p:nvSpPr>
        <p:spPr>
          <a:xfrm>
            <a:off x="108156" y="259548"/>
            <a:ext cx="11808542" cy="954107"/>
          </a:xfrm>
          <a:prstGeom prst="rect">
            <a:avLst/>
          </a:prstGeom>
          <a:noFill/>
        </p:spPr>
        <p:txBody>
          <a:bodyPr wrap="square" rtlCol="0">
            <a:spAutoFit/>
          </a:bodyPr>
          <a:lstStyle/>
          <a:p>
            <a:pPr algn="ctr"/>
            <a:r>
              <a:rPr lang="en-IN" sz="2800" b="1" dirty="0">
                <a:effectLst>
                  <a:outerShdw blurRad="38100" dist="38100" dir="2700000" algn="tl">
                    <a:srgbClr val="000000">
                      <a:alpha val="43137"/>
                    </a:srgbClr>
                  </a:outerShdw>
                </a:effectLst>
              </a:rPr>
              <a:t>Calculating the Peak Time when there are high number of </a:t>
            </a:r>
          </a:p>
          <a:p>
            <a:pPr algn="ctr"/>
            <a:r>
              <a:rPr lang="en-IN" sz="2800" b="1" dirty="0">
                <a:effectLst>
                  <a:outerShdw blurRad="38100" dist="38100" dir="2700000" algn="tl">
                    <a:srgbClr val="000000">
                      <a:alpha val="43137"/>
                    </a:srgbClr>
                  </a:outerShdw>
                </a:effectLst>
              </a:rPr>
              <a:t>customers</a:t>
            </a:r>
          </a:p>
        </p:txBody>
      </p:sp>
      <p:pic>
        <p:nvPicPr>
          <p:cNvPr id="18" name="Picture 17">
            <a:extLst>
              <a:ext uri="{FF2B5EF4-FFF2-40B4-BE49-F238E27FC236}">
                <a16:creationId xmlns:a16="http://schemas.microsoft.com/office/drawing/2014/main" id="{43EC4141-2E54-8498-BD47-71BDD9987BE6}"/>
              </a:ext>
            </a:extLst>
          </p:cNvPr>
          <p:cNvPicPr>
            <a:picLocks noChangeAspect="1"/>
          </p:cNvPicPr>
          <p:nvPr/>
        </p:nvPicPr>
        <p:blipFill>
          <a:blip r:embed="rId2"/>
          <a:stretch>
            <a:fillRect/>
          </a:stretch>
        </p:blipFill>
        <p:spPr>
          <a:xfrm>
            <a:off x="694783" y="2339037"/>
            <a:ext cx="3633079" cy="966204"/>
          </a:xfrm>
          <a:prstGeom prst="rect">
            <a:avLst/>
          </a:prstGeom>
        </p:spPr>
      </p:pic>
      <p:pic>
        <p:nvPicPr>
          <p:cNvPr id="19" name="Picture 18">
            <a:extLst>
              <a:ext uri="{FF2B5EF4-FFF2-40B4-BE49-F238E27FC236}">
                <a16:creationId xmlns:a16="http://schemas.microsoft.com/office/drawing/2014/main" id="{FC5515F9-4578-D24B-566B-E41002DE88BB}"/>
              </a:ext>
            </a:extLst>
          </p:cNvPr>
          <p:cNvPicPr>
            <a:picLocks noChangeAspect="1"/>
          </p:cNvPicPr>
          <p:nvPr/>
        </p:nvPicPr>
        <p:blipFill>
          <a:blip r:embed="rId3"/>
          <a:stretch>
            <a:fillRect/>
          </a:stretch>
        </p:blipFill>
        <p:spPr>
          <a:xfrm>
            <a:off x="7472661" y="2339037"/>
            <a:ext cx="3244499" cy="978770"/>
          </a:xfrm>
          <a:prstGeom prst="rect">
            <a:avLst/>
          </a:prstGeom>
        </p:spPr>
      </p:pic>
      <p:pic>
        <p:nvPicPr>
          <p:cNvPr id="20" name="Picture 19">
            <a:extLst>
              <a:ext uri="{FF2B5EF4-FFF2-40B4-BE49-F238E27FC236}">
                <a16:creationId xmlns:a16="http://schemas.microsoft.com/office/drawing/2014/main" id="{7B4764AA-F469-5678-E0FC-ABA97CCC8483}"/>
              </a:ext>
            </a:extLst>
          </p:cNvPr>
          <p:cNvPicPr>
            <a:picLocks noChangeAspect="1"/>
          </p:cNvPicPr>
          <p:nvPr/>
        </p:nvPicPr>
        <p:blipFill>
          <a:blip r:embed="rId4"/>
          <a:stretch>
            <a:fillRect/>
          </a:stretch>
        </p:blipFill>
        <p:spPr>
          <a:xfrm>
            <a:off x="4148170" y="4466192"/>
            <a:ext cx="3728514" cy="1077218"/>
          </a:xfrm>
          <a:prstGeom prst="rect">
            <a:avLst/>
          </a:prstGeom>
        </p:spPr>
      </p:pic>
      <p:sp>
        <p:nvSpPr>
          <p:cNvPr id="3" name="TextBox 2">
            <a:extLst>
              <a:ext uri="{FF2B5EF4-FFF2-40B4-BE49-F238E27FC236}">
                <a16:creationId xmlns:a16="http://schemas.microsoft.com/office/drawing/2014/main" id="{938D01BF-4DF4-1FD1-AB3B-C9B93839778F}"/>
              </a:ext>
            </a:extLst>
          </p:cNvPr>
          <p:cNvSpPr txBox="1"/>
          <p:nvPr/>
        </p:nvSpPr>
        <p:spPr>
          <a:xfrm>
            <a:off x="1636276" y="1534012"/>
            <a:ext cx="1179041" cy="461665"/>
          </a:xfrm>
          <a:prstGeom prst="rect">
            <a:avLst/>
          </a:prstGeom>
          <a:noFill/>
        </p:spPr>
        <p:txBody>
          <a:bodyPr wrap="none" rtlCol="0">
            <a:spAutoFit/>
          </a:bodyPr>
          <a:lstStyle/>
          <a:p>
            <a:r>
              <a:rPr lang="en-IN" sz="2400" dirty="0"/>
              <a:t>DAY - 1</a:t>
            </a:r>
          </a:p>
        </p:txBody>
      </p:sp>
      <p:sp>
        <p:nvSpPr>
          <p:cNvPr id="5" name="TextBox 4">
            <a:extLst>
              <a:ext uri="{FF2B5EF4-FFF2-40B4-BE49-F238E27FC236}">
                <a16:creationId xmlns:a16="http://schemas.microsoft.com/office/drawing/2014/main" id="{EE1EADDE-DA3E-18F6-AD22-6B6FB65B46F7}"/>
              </a:ext>
            </a:extLst>
          </p:cNvPr>
          <p:cNvSpPr txBox="1"/>
          <p:nvPr/>
        </p:nvSpPr>
        <p:spPr>
          <a:xfrm>
            <a:off x="7760598" y="1557015"/>
            <a:ext cx="1179041" cy="461665"/>
          </a:xfrm>
          <a:prstGeom prst="rect">
            <a:avLst/>
          </a:prstGeom>
          <a:noFill/>
        </p:spPr>
        <p:txBody>
          <a:bodyPr wrap="none" rtlCol="0">
            <a:spAutoFit/>
          </a:bodyPr>
          <a:lstStyle/>
          <a:p>
            <a:r>
              <a:rPr lang="en-IN" sz="2400" dirty="0"/>
              <a:t>DAY - 2</a:t>
            </a:r>
          </a:p>
        </p:txBody>
      </p:sp>
      <p:sp>
        <p:nvSpPr>
          <p:cNvPr id="6" name="TextBox 5">
            <a:extLst>
              <a:ext uri="{FF2B5EF4-FFF2-40B4-BE49-F238E27FC236}">
                <a16:creationId xmlns:a16="http://schemas.microsoft.com/office/drawing/2014/main" id="{4BCCEF11-FA66-FE0A-6631-619E4BAEDA28}"/>
              </a:ext>
            </a:extLst>
          </p:cNvPr>
          <p:cNvSpPr txBox="1"/>
          <p:nvPr/>
        </p:nvSpPr>
        <p:spPr>
          <a:xfrm>
            <a:off x="5271748" y="3800008"/>
            <a:ext cx="1179041" cy="461665"/>
          </a:xfrm>
          <a:prstGeom prst="rect">
            <a:avLst/>
          </a:prstGeom>
          <a:noFill/>
        </p:spPr>
        <p:txBody>
          <a:bodyPr wrap="none" rtlCol="0">
            <a:spAutoFit/>
          </a:bodyPr>
          <a:lstStyle/>
          <a:p>
            <a:r>
              <a:rPr lang="en-IN" sz="2400" dirty="0"/>
              <a:t>DAY - 3</a:t>
            </a:r>
          </a:p>
        </p:txBody>
      </p:sp>
    </p:spTree>
    <p:extLst>
      <p:ext uri="{BB962C8B-B14F-4D97-AF65-F5344CB8AC3E}">
        <p14:creationId xmlns:p14="http://schemas.microsoft.com/office/powerpoint/2010/main" val="4247958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DF9B6-9694-F13E-84B3-F7293BEDF56C}"/>
              </a:ext>
            </a:extLst>
          </p:cNvPr>
          <p:cNvSpPr txBox="1"/>
          <p:nvPr/>
        </p:nvSpPr>
        <p:spPr>
          <a:xfrm>
            <a:off x="1265401" y="2714144"/>
            <a:ext cx="9196121" cy="2554545"/>
          </a:xfrm>
          <a:prstGeom prst="rect">
            <a:avLst/>
          </a:prstGeom>
          <a:noFill/>
        </p:spPr>
        <p:txBody>
          <a:bodyPr wrap="square" rtlCol="0">
            <a:spAutoFit/>
          </a:bodyPr>
          <a:lstStyle/>
          <a:p>
            <a:r>
              <a:rPr lang="en-IN" sz="2000" b="1" u="sng" dirty="0"/>
              <a:t>OBSERVATIONS</a:t>
            </a:r>
            <a:r>
              <a:rPr lang="en-IN" sz="2000" b="1" dirty="0"/>
              <a:t> </a:t>
            </a:r>
          </a:p>
          <a:p>
            <a:endParaRPr lang="en-IN" sz="2000" b="1" dirty="0"/>
          </a:p>
          <a:p>
            <a:pPr marL="342900" indent="-342900">
              <a:buFont typeface="Arial" panose="020B0604020202020204" pitchFamily="34" charset="0"/>
              <a:buChar char="•"/>
            </a:pPr>
            <a:r>
              <a:rPr lang="en-US" sz="2000" dirty="0"/>
              <a:t>It can be observed that the restaurant had highest number of people on Day 5 at 7:55 PM</a:t>
            </a:r>
            <a:endParaRPr lang="en-IN" sz="2000" dirty="0"/>
          </a:p>
          <a:p>
            <a:pPr marL="342900" indent="-342900">
              <a:buFont typeface="Arial" panose="020B0604020202020204" pitchFamily="34" charset="0"/>
              <a:buChar char="•"/>
            </a:pPr>
            <a:r>
              <a:rPr lang="en-US" sz="2000" dirty="0"/>
              <a:t>Day 5 experiences the highest influx of customers, which could be due to a variety of factors like promotions, events, or typical patterns in customer behavior.</a:t>
            </a:r>
          </a:p>
          <a:p>
            <a:pPr marL="342900" indent="-342900">
              <a:buFont typeface="Arial" panose="020B0604020202020204" pitchFamily="34" charset="0"/>
              <a:buChar char="•"/>
            </a:pPr>
            <a:r>
              <a:rPr lang="en-US" sz="2000" dirty="0"/>
              <a:t>This day likely represents a time when demand is at its highest, providing an opportunity to optimize resources and maximize revenue.</a:t>
            </a:r>
          </a:p>
        </p:txBody>
      </p:sp>
      <p:pic>
        <p:nvPicPr>
          <p:cNvPr id="21" name="Picture 20">
            <a:extLst>
              <a:ext uri="{FF2B5EF4-FFF2-40B4-BE49-F238E27FC236}">
                <a16:creationId xmlns:a16="http://schemas.microsoft.com/office/drawing/2014/main" id="{9852699D-F0FE-7D5B-D955-9F5413D9C387}"/>
              </a:ext>
            </a:extLst>
          </p:cNvPr>
          <p:cNvPicPr>
            <a:picLocks noChangeAspect="1"/>
          </p:cNvPicPr>
          <p:nvPr/>
        </p:nvPicPr>
        <p:blipFill>
          <a:blip r:embed="rId2"/>
          <a:stretch>
            <a:fillRect/>
          </a:stretch>
        </p:blipFill>
        <p:spPr>
          <a:xfrm>
            <a:off x="773788" y="933725"/>
            <a:ext cx="3640896" cy="1014066"/>
          </a:xfrm>
          <a:prstGeom prst="rect">
            <a:avLst/>
          </a:prstGeom>
        </p:spPr>
      </p:pic>
      <p:sp>
        <p:nvSpPr>
          <p:cNvPr id="4" name="TextBox 3">
            <a:extLst>
              <a:ext uri="{FF2B5EF4-FFF2-40B4-BE49-F238E27FC236}">
                <a16:creationId xmlns:a16="http://schemas.microsoft.com/office/drawing/2014/main" id="{25C5F30E-6085-C28C-6385-FF4DB30ADB4C}"/>
              </a:ext>
            </a:extLst>
          </p:cNvPr>
          <p:cNvSpPr txBox="1"/>
          <p:nvPr/>
        </p:nvSpPr>
        <p:spPr>
          <a:xfrm>
            <a:off x="1860975" y="300101"/>
            <a:ext cx="1613042" cy="461665"/>
          </a:xfrm>
          <a:prstGeom prst="rect">
            <a:avLst/>
          </a:prstGeom>
          <a:noFill/>
        </p:spPr>
        <p:txBody>
          <a:bodyPr wrap="square">
            <a:spAutoFit/>
          </a:bodyPr>
          <a:lstStyle/>
          <a:p>
            <a:r>
              <a:rPr lang="en-IN" sz="2400" dirty="0"/>
              <a:t>DAY - 4</a:t>
            </a:r>
          </a:p>
        </p:txBody>
      </p:sp>
      <p:pic>
        <p:nvPicPr>
          <p:cNvPr id="22" name="Picture 21">
            <a:extLst>
              <a:ext uri="{FF2B5EF4-FFF2-40B4-BE49-F238E27FC236}">
                <a16:creationId xmlns:a16="http://schemas.microsoft.com/office/drawing/2014/main" id="{6DC0FE1A-F10D-3C0B-A93D-880EC704077C}"/>
              </a:ext>
            </a:extLst>
          </p:cNvPr>
          <p:cNvPicPr>
            <a:picLocks noChangeAspect="1"/>
          </p:cNvPicPr>
          <p:nvPr/>
        </p:nvPicPr>
        <p:blipFill>
          <a:blip r:embed="rId3"/>
          <a:stretch>
            <a:fillRect/>
          </a:stretch>
        </p:blipFill>
        <p:spPr>
          <a:xfrm>
            <a:off x="6953001" y="933725"/>
            <a:ext cx="3588510" cy="1014066"/>
          </a:xfrm>
          <a:prstGeom prst="rect">
            <a:avLst/>
          </a:prstGeom>
        </p:spPr>
      </p:pic>
      <p:sp>
        <p:nvSpPr>
          <p:cNvPr id="6" name="TextBox 5">
            <a:extLst>
              <a:ext uri="{FF2B5EF4-FFF2-40B4-BE49-F238E27FC236}">
                <a16:creationId xmlns:a16="http://schemas.microsoft.com/office/drawing/2014/main" id="{1C714039-52FA-AF9C-0161-777A45BE02D1}"/>
              </a:ext>
            </a:extLst>
          </p:cNvPr>
          <p:cNvSpPr txBox="1"/>
          <p:nvPr/>
        </p:nvSpPr>
        <p:spPr>
          <a:xfrm>
            <a:off x="7680541" y="300100"/>
            <a:ext cx="1613042" cy="461665"/>
          </a:xfrm>
          <a:prstGeom prst="rect">
            <a:avLst/>
          </a:prstGeom>
          <a:noFill/>
        </p:spPr>
        <p:txBody>
          <a:bodyPr wrap="square">
            <a:spAutoFit/>
          </a:bodyPr>
          <a:lstStyle/>
          <a:p>
            <a:r>
              <a:rPr lang="en-IN" sz="2400" dirty="0"/>
              <a:t>DAY - 5</a:t>
            </a:r>
          </a:p>
        </p:txBody>
      </p:sp>
    </p:spTree>
    <p:extLst>
      <p:ext uri="{BB962C8B-B14F-4D97-AF65-F5344CB8AC3E}">
        <p14:creationId xmlns:p14="http://schemas.microsoft.com/office/powerpoint/2010/main" val="1226650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2D6163-C622-CD36-A55C-7E4FB567FAED}"/>
              </a:ext>
            </a:extLst>
          </p:cNvPr>
          <p:cNvSpPr txBox="1"/>
          <p:nvPr/>
        </p:nvSpPr>
        <p:spPr>
          <a:xfrm>
            <a:off x="3127339" y="391634"/>
            <a:ext cx="6398739" cy="584775"/>
          </a:xfrm>
          <a:prstGeom prst="rect">
            <a:avLst/>
          </a:prstGeom>
          <a:noFill/>
        </p:spPr>
        <p:txBody>
          <a:bodyPr wrap="none" rtlCol="0">
            <a:spAutoFit/>
          </a:bodyPr>
          <a:lstStyle/>
          <a:p>
            <a:r>
              <a:rPr lang="en-IN" sz="3200" b="1" dirty="0">
                <a:effectLst>
                  <a:outerShdw blurRad="38100" dist="38100" dir="2700000" algn="tl">
                    <a:srgbClr val="000000">
                      <a:alpha val="43137"/>
                    </a:srgbClr>
                  </a:outerShdw>
                </a:effectLst>
              </a:rPr>
              <a:t>Calculating Highest Bill Per Day </a:t>
            </a:r>
          </a:p>
        </p:txBody>
      </p:sp>
      <p:pic>
        <p:nvPicPr>
          <p:cNvPr id="10" name="Picture 9">
            <a:extLst>
              <a:ext uri="{FF2B5EF4-FFF2-40B4-BE49-F238E27FC236}">
                <a16:creationId xmlns:a16="http://schemas.microsoft.com/office/drawing/2014/main" id="{37C4A366-6EC1-7BE6-8A15-C7A4F390F7B4}"/>
              </a:ext>
            </a:extLst>
          </p:cNvPr>
          <p:cNvPicPr>
            <a:picLocks noChangeAspect="1"/>
          </p:cNvPicPr>
          <p:nvPr/>
        </p:nvPicPr>
        <p:blipFill>
          <a:blip r:embed="rId2"/>
          <a:stretch>
            <a:fillRect/>
          </a:stretch>
        </p:blipFill>
        <p:spPr>
          <a:xfrm>
            <a:off x="801393" y="1988804"/>
            <a:ext cx="3405799" cy="1248703"/>
          </a:xfrm>
          <a:prstGeom prst="rect">
            <a:avLst/>
          </a:prstGeom>
        </p:spPr>
      </p:pic>
      <p:pic>
        <p:nvPicPr>
          <p:cNvPr id="12" name="Picture 11">
            <a:extLst>
              <a:ext uri="{FF2B5EF4-FFF2-40B4-BE49-F238E27FC236}">
                <a16:creationId xmlns:a16="http://schemas.microsoft.com/office/drawing/2014/main" id="{3EDCAF1A-85CC-E448-6DB6-D097E4526F84}"/>
              </a:ext>
            </a:extLst>
          </p:cNvPr>
          <p:cNvPicPr>
            <a:picLocks noChangeAspect="1"/>
          </p:cNvPicPr>
          <p:nvPr/>
        </p:nvPicPr>
        <p:blipFill>
          <a:blip r:embed="rId3"/>
          <a:stretch>
            <a:fillRect/>
          </a:stretch>
        </p:blipFill>
        <p:spPr>
          <a:xfrm>
            <a:off x="7112460" y="1988804"/>
            <a:ext cx="3745177" cy="1248703"/>
          </a:xfrm>
          <a:prstGeom prst="rect">
            <a:avLst/>
          </a:prstGeom>
        </p:spPr>
      </p:pic>
      <p:pic>
        <p:nvPicPr>
          <p:cNvPr id="5" name="Picture 4">
            <a:extLst>
              <a:ext uri="{FF2B5EF4-FFF2-40B4-BE49-F238E27FC236}">
                <a16:creationId xmlns:a16="http://schemas.microsoft.com/office/drawing/2014/main" id="{C7F6F780-192C-0626-3AA7-A76D36E3D0B5}"/>
              </a:ext>
            </a:extLst>
          </p:cNvPr>
          <p:cNvPicPr>
            <a:picLocks noChangeAspect="1"/>
          </p:cNvPicPr>
          <p:nvPr/>
        </p:nvPicPr>
        <p:blipFill>
          <a:blip r:embed="rId4"/>
          <a:stretch>
            <a:fillRect/>
          </a:stretch>
        </p:blipFill>
        <p:spPr>
          <a:xfrm>
            <a:off x="4207192" y="4318728"/>
            <a:ext cx="4424346" cy="1334821"/>
          </a:xfrm>
          <a:prstGeom prst="rect">
            <a:avLst/>
          </a:prstGeom>
        </p:spPr>
      </p:pic>
      <p:sp>
        <p:nvSpPr>
          <p:cNvPr id="3" name="TextBox 2">
            <a:extLst>
              <a:ext uri="{FF2B5EF4-FFF2-40B4-BE49-F238E27FC236}">
                <a16:creationId xmlns:a16="http://schemas.microsoft.com/office/drawing/2014/main" id="{72B2BC92-442A-53D2-4C8D-7DC6E0B7F952}"/>
              </a:ext>
            </a:extLst>
          </p:cNvPr>
          <p:cNvSpPr txBox="1"/>
          <p:nvPr/>
        </p:nvSpPr>
        <p:spPr>
          <a:xfrm>
            <a:off x="7621932" y="1438841"/>
            <a:ext cx="1748210" cy="461665"/>
          </a:xfrm>
          <a:prstGeom prst="rect">
            <a:avLst/>
          </a:prstGeom>
          <a:noFill/>
        </p:spPr>
        <p:txBody>
          <a:bodyPr wrap="square" rtlCol="0">
            <a:spAutoFit/>
          </a:bodyPr>
          <a:lstStyle/>
          <a:p>
            <a:r>
              <a:rPr lang="en-IN" sz="2400" dirty="0"/>
              <a:t>DAY - 2</a:t>
            </a:r>
          </a:p>
        </p:txBody>
      </p:sp>
      <p:sp>
        <p:nvSpPr>
          <p:cNvPr id="4" name="TextBox 3">
            <a:extLst>
              <a:ext uri="{FF2B5EF4-FFF2-40B4-BE49-F238E27FC236}">
                <a16:creationId xmlns:a16="http://schemas.microsoft.com/office/drawing/2014/main" id="{D311B8FD-88E0-7BD2-2EEC-8BFA08BD0E6F}"/>
              </a:ext>
            </a:extLst>
          </p:cNvPr>
          <p:cNvSpPr txBox="1"/>
          <p:nvPr/>
        </p:nvSpPr>
        <p:spPr>
          <a:xfrm>
            <a:off x="1743182" y="1438841"/>
            <a:ext cx="1179041" cy="461665"/>
          </a:xfrm>
          <a:prstGeom prst="rect">
            <a:avLst/>
          </a:prstGeom>
          <a:noFill/>
        </p:spPr>
        <p:txBody>
          <a:bodyPr wrap="none" rtlCol="0">
            <a:spAutoFit/>
          </a:bodyPr>
          <a:lstStyle/>
          <a:p>
            <a:r>
              <a:rPr lang="en-IN" sz="2400" dirty="0"/>
              <a:t>DAY - 1</a:t>
            </a:r>
          </a:p>
        </p:txBody>
      </p:sp>
      <p:sp>
        <p:nvSpPr>
          <p:cNvPr id="7" name="TextBox 6">
            <a:extLst>
              <a:ext uri="{FF2B5EF4-FFF2-40B4-BE49-F238E27FC236}">
                <a16:creationId xmlns:a16="http://schemas.microsoft.com/office/drawing/2014/main" id="{E7F063CB-982E-49E5-D37E-5C806A331914}"/>
              </a:ext>
            </a:extLst>
          </p:cNvPr>
          <p:cNvSpPr txBox="1"/>
          <p:nvPr/>
        </p:nvSpPr>
        <p:spPr>
          <a:xfrm>
            <a:off x="5601495" y="3695473"/>
            <a:ext cx="1179041" cy="461665"/>
          </a:xfrm>
          <a:prstGeom prst="rect">
            <a:avLst/>
          </a:prstGeom>
          <a:noFill/>
        </p:spPr>
        <p:txBody>
          <a:bodyPr wrap="none" rtlCol="0">
            <a:spAutoFit/>
          </a:bodyPr>
          <a:lstStyle/>
          <a:p>
            <a:r>
              <a:rPr lang="en-IN" sz="2400" dirty="0"/>
              <a:t>DAY - 3</a:t>
            </a:r>
          </a:p>
        </p:txBody>
      </p:sp>
    </p:spTree>
    <p:extLst>
      <p:ext uri="{BB962C8B-B14F-4D97-AF65-F5344CB8AC3E}">
        <p14:creationId xmlns:p14="http://schemas.microsoft.com/office/powerpoint/2010/main" val="3485785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DF9B6-9694-F13E-84B3-F7293BEDF56C}"/>
              </a:ext>
            </a:extLst>
          </p:cNvPr>
          <p:cNvSpPr txBox="1"/>
          <p:nvPr/>
        </p:nvSpPr>
        <p:spPr>
          <a:xfrm>
            <a:off x="1002889" y="2538602"/>
            <a:ext cx="10618839" cy="2554545"/>
          </a:xfrm>
          <a:prstGeom prst="rect">
            <a:avLst/>
          </a:prstGeom>
          <a:noFill/>
        </p:spPr>
        <p:txBody>
          <a:bodyPr wrap="square" rtlCol="0">
            <a:spAutoFit/>
          </a:bodyPr>
          <a:lstStyle/>
          <a:p>
            <a:r>
              <a:rPr lang="en-IN" sz="2000" b="1" u="sng" dirty="0"/>
              <a:t>OBSERVATIONS</a:t>
            </a:r>
          </a:p>
          <a:p>
            <a:endParaRPr lang="en-US" sz="2000" b="1" u="sng" dirty="0"/>
          </a:p>
          <a:p>
            <a:pPr marL="342900" indent="-342900">
              <a:buFont typeface="Arial" panose="020B0604020202020204" pitchFamily="34" charset="0"/>
              <a:buChar char="•"/>
            </a:pPr>
            <a:r>
              <a:rPr lang="en-IN" sz="2000" dirty="0"/>
              <a:t>Day-3 has the highest revenue at 7:14 pm with number of persons being 8.</a:t>
            </a:r>
          </a:p>
          <a:p>
            <a:pPr marL="342900" indent="-342900">
              <a:buFont typeface="Arial" panose="020B0604020202020204" pitchFamily="34" charset="0"/>
              <a:buChar char="•"/>
            </a:pPr>
            <a:r>
              <a:rPr lang="en-US" sz="2000" dirty="0"/>
              <a:t>7:14 PM on Day 3 is a peak time for generating high revenue, likely because it represents a popular dining or activity time, possibly during dinner or another high-demand period.</a:t>
            </a:r>
          </a:p>
          <a:p>
            <a:pPr marL="342900" indent="-342900">
              <a:buFont typeface="Arial" panose="020B0604020202020204" pitchFamily="34" charset="0"/>
              <a:buChar char="•"/>
            </a:pPr>
            <a:r>
              <a:rPr lang="en-US" sz="2000" dirty="0"/>
              <a:t>This time might reflect when larger groups (like the group of 8) are most likely to visit, increasing the average bill significantly.</a:t>
            </a:r>
            <a:endParaRPr lang="en-IN" sz="2000" dirty="0"/>
          </a:p>
          <a:p>
            <a:pPr marL="342900" indent="-342900">
              <a:buFont typeface="Arial" panose="020B0604020202020204" pitchFamily="34" charset="0"/>
              <a:buChar char="•"/>
            </a:pPr>
            <a:endParaRPr lang="en-US" sz="2000" b="1" dirty="0"/>
          </a:p>
        </p:txBody>
      </p:sp>
      <p:pic>
        <p:nvPicPr>
          <p:cNvPr id="16" name="Picture 15">
            <a:extLst>
              <a:ext uri="{FF2B5EF4-FFF2-40B4-BE49-F238E27FC236}">
                <a16:creationId xmlns:a16="http://schemas.microsoft.com/office/drawing/2014/main" id="{F27F062C-AC27-8210-AA36-D780F23AE75F}"/>
              </a:ext>
            </a:extLst>
          </p:cNvPr>
          <p:cNvPicPr>
            <a:picLocks noChangeAspect="1"/>
          </p:cNvPicPr>
          <p:nvPr/>
        </p:nvPicPr>
        <p:blipFill>
          <a:blip r:embed="rId2"/>
          <a:stretch>
            <a:fillRect/>
          </a:stretch>
        </p:blipFill>
        <p:spPr>
          <a:xfrm>
            <a:off x="1081548" y="688016"/>
            <a:ext cx="3714244" cy="1238388"/>
          </a:xfrm>
          <a:prstGeom prst="rect">
            <a:avLst/>
          </a:prstGeom>
        </p:spPr>
      </p:pic>
      <p:pic>
        <p:nvPicPr>
          <p:cNvPr id="20" name="Picture 19">
            <a:extLst>
              <a:ext uri="{FF2B5EF4-FFF2-40B4-BE49-F238E27FC236}">
                <a16:creationId xmlns:a16="http://schemas.microsoft.com/office/drawing/2014/main" id="{53836BFE-8407-A08F-A857-CB5C8FAEB7C0}"/>
              </a:ext>
            </a:extLst>
          </p:cNvPr>
          <p:cNvPicPr>
            <a:picLocks noChangeAspect="1"/>
          </p:cNvPicPr>
          <p:nvPr/>
        </p:nvPicPr>
        <p:blipFill>
          <a:blip r:embed="rId3"/>
          <a:stretch>
            <a:fillRect/>
          </a:stretch>
        </p:blipFill>
        <p:spPr>
          <a:xfrm>
            <a:off x="7201794" y="694908"/>
            <a:ext cx="3984698" cy="1238388"/>
          </a:xfrm>
          <a:prstGeom prst="rect">
            <a:avLst/>
          </a:prstGeom>
        </p:spPr>
      </p:pic>
      <p:sp>
        <p:nvSpPr>
          <p:cNvPr id="4" name="TextBox 3">
            <a:extLst>
              <a:ext uri="{FF2B5EF4-FFF2-40B4-BE49-F238E27FC236}">
                <a16:creationId xmlns:a16="http://schemas.microsoft.com/office/drawing/2014/main" id="{4FA690E8-9672-0AD6-9A84-2B79ED771EB2}"/>
              </a:ext>
            </a:extLst>
          </p:cNvPr>
          <p:cNvSpPr txBox="1"/>
          <p:nvPr/>
        </p:nvSpPr>
        <p:spPr>
          <a:xfrm>
            <a:off x="2353752" y="130572"/>
            <a:ext cx="1169835" cy="461665"/>
          </a:xfrm>
          <a:prstGeom prst="rect">
            <a:avLst/>
          </a:prstGeom>
          <a:noFill/>
        </p:spPr>
        <p:txBody>
          <a:bodyPr wrap="square">
            <a:spAutoFit/>
          </a:bodyPr>
          <a:lstStyle/>
          <a:p>
            <a:r>
              <a:rPr lang="en-IN" sz="2400" dirty="0"/>
              <a:t>DAY - 4</a:t>
            </a:r>
          </a:p>
        </p:txBody>
      </p:sp>
      <p:sp>
        <p:nvSpPr>
          <p:cNvPr id="6" name="TextBox 5">
            <a:extLst>
              <a:ext uri="{FF2B5EF4-FFF2-40B4-BE49-F238E27FC236}">
                <a16:creationId xmlns:a16="http://schemas.microsoft.com/office/drawing/2014/main" id="{4CE554D3-3B49-5643-97D3-5A8B76AF2D93}"/>
              </a:ext>
            </a:extLst>
          </p:cNvPr>
          <p:cNvSpPr txBox="1"/>
          <p:nvPr/>
        </p:nvSpPr>
        <p:spPr>
          <a:xfrm>
            <a:off x="8315702" y="186834"/>
            <a:ext cx="1756881" cy="461665"/>
          </a:xfrm>
          <a:prstGeom prst="rect">
            <a:avLst/>
          </a:prstGeom>
          <a:noFill/>
        </p:spPr>
        <p:txBody>
          <a:bodyPr wrap="square">
            <a:spAutoFit/>
          </a:bodyPr>
          <a:lstStyle/>
          <a:p>
            <a:r>
              <a:rPr lang="en-IN" sz="2400" dirty="0"/>
              <a:t>DAY - 5</a:t>
            </a:r>
          </a:p>
        </p:txBody>
      </p:sp>
    </p:spTree>
    <p:extLst>
      <p:ext uri="{BB962C8B-B14F-4D97-AF65-F5344CB8AC3E}">
        <p14:creationId xmlns:p14="http://schemas.microsoft.com/office/powerpoint/2010/main" val="1700153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7ACF1-B705-4232-D4C3-3038A2CAA59F}"/>
              </a:ext>
            </a:extLst>
          </p:cNvPr>
          <p:cNvSpPr>
            <a:spLocks noGrp="1"/>
          </p:cNvSpPr>
          <p:nvPr>
            <p:ph type="title"/>
          </p:nvPr>
        </p:nvSpPr>
        <p:spPr/>
        <p:txBody>
          <a:bodyPr/>
          <a:lstStyle/>
          <a:p>
            <a:pPr algn="ctr"/>
            <a:r>
              <a:rPr lang="en-IN" b="1" dirty="0"/>
              <a:t>CONCLUSION</a:t>
            </a:r>
          </a:p>
        </p:txBody>
      </p:sp>
      <p:sp>
        <p:nvSpPr>
          <p:cNvPr id="4" name="TextBox 3">
            <a:extLst>
              <a:ext uri="{FF2B5EF4-FFF2-40B4-BE49-F238E27FC236}">
                <a16:creationId xmlns:a16="http://schemas.microsoft.com/office/drawing/2014/main" id="{E0124818-8412-55A5-0DA6-4734D38FE0FE}"/>
              </a:ext>
            </a:extLst>
          </p:cNvPr>
          <p:cNvSpPr txBox="1"/>
          <p:nvPr/>
        </p:nvSpPr>
        <p:spPr>
          <a:xfrm>
            <a:off x="1238865" y="2084439"/>
            <a:ext cx="9603275" cy="3170099"/>
          </a:xfrm>
          <a:prstGeom prst="rect">
            <a:avLst/>
          </a:prstGeom>
          <a:noFill/>
        </p:spPr>
        <p:txBody>
          <a:bodyPr wrap="square" rtlCol="0">
            <a:spAutoFit/>
          </a:bodyPr>
          <a:lstStyle/>
          <a:p>
            <a:pPr marL="285750" indent="-285750">
              <a:buFont typeface="Arial" panose="020B0604020202020204" pitchFamily="34" charset="0"/>
              <a:buChar char="•"/>
            </a:pPr>
            <a:r>
              <a:rPr lang="en-US" sz="2000" dirty="0"/>
              <a:t>Day 4 shows the strongest relationship between the number of reservations, persons, and the bill, with an R-squared value of 0.960, indicating a significant impact of these factors on revenue.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Day 3 has the highest average bill, suggesting that promotions or marketing strategies on this day can maximize profits, particularly targeting larger groups.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Day 5 shows the longest waiting times, indicating a need for better management or operational improvements to enhance customer satisfaction and service efficiency during peak periods.</a:t>
            </a:r>
            <a:endParaRPr lang="en-IN" sz="2000" dirty="0"/>
          </a:p>
        </p:txBody>
      </p:sp>
    </p:spTree>
    <p:extLst>
      <p:ext uri="{BB962C8B-B14F-4D97-AF65-F5344CB8AC3E}">
        <p14:creationId xmlns:p14="http://schemas.microsoft.com/office/powerpoint/2010/main" val="2383436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AB266-2B39-032D-60FD-4CDE3A3DB71E}"/>
              </a:ext>
            </a:extLst>
          </p:cNvPr>
          <p:cNvSpPr txBox="1"/>
          <p:nvPr/>
        </p:nvSpPr>
        <p:spPr>
          <a:xfrm>
            <a:off x="3637945" y="264698"/>
            <a:ext cx="6811766" cy="830997"/>
          </a:xfrm>
          <a:prstGeom prst="rect">
            <a:avLst/>
          </a:prstGeom>
          <a:noFill/>
        </p:spPr>
        <p:txBody>
          <a:bodyPr wrap="square" rtlCol="0">
            <a:spAutoFit/>
          </a:bodyPr>
          <a:lstStyle/>
          <a:p>
            <a:r>
              <a:rPr lang="en-IN" sz="4800" b="1" dirty="0">
                <a:effectLst>
                  <a:outerShdw blurRad="38100" dist="38100" dir="2700000" algn="tl">
                    <a:srgbClr val="000000">
                      <a:alpha val="43137"/>
                    </a:srgbClr>
                  </a:outerShdw>
                </a:effectLst>
              </a:rPr>
              <a:t>Link of co-lab </a:t>
            </a:r>
          </a:p>
        </p:txBody>
      </p:sp>
      <p:sp>
        <p:nvSpPr>
          <p:cNvPr id="8" name="TextBox 7">
            <a:extLst>
              <a:ext uri="{FF2B5EF4-FFF2-40B4-BE49-F238E27FC236}">
                <a16:creationId xmlns:a16="http://schemas.microsoft.com/office/drawing/2014/main" id="{22E5C36E-B5A6-6E1E-CC64-0250AFDA542E}"/>
              </a:ext>
            </a:extLst>
          </p:cNvPr>
          <p:cNvSpPr txBox="1"/>
          <p:nvPr/>
        </p:nvSpPr>
        <p:spPr>
          <a:xfrm>
            <a:off x="645574" y="1396646"/>
            <a:ext cx="1033040" cy="369332"/>
          </a:xfrm>
          <a:prstGeom prst="rect">
            <a:avLst/>
          </a:prstGeom>
          <a:noFill/>
        </p:spPr>
        <p:txBody>
          <a:bodyPr wrap="none" rtlCol="0">
            <a:spAutoFit/>
          </a:bodyPr>
          <a:lstStyle/>
          <a:p>
            <a:r>
              <a:rPr lang="en-IN" dirty="0"/>
              <a:t>Day - 1,2</a:t>
            </a:r>
          </a:p>
        </p:txBody>
      </p:sp>
      <p:sp>
        <p:nvSpPr>
          <p:cNvPr id="9" name="TextBox 8">
            <a:extLst>
              <a:ext uri="{FF2B5EF4-FFF2-40B4-BE49-F238E27FC236}">
                <a16:creationId xmlns:a16="http://schemas.microsoft.com/office/drawing/2014/main" id="{BE9F5E6C-689E-6EAA-E558-EF468FA106C8}"/>
              </a:ext>
            </a:extLst>
          </p:cNvPr>
          <p:cNvSpPr txBox="1"/>
          <p:nvPr/>
        </p:nvSpPr>
        <p:spPr>
          <a:xfrm>
            <a:off x="645574" y="2413330"/>
            <a:ext cx="1239827" cy="369332"/>
          </a:xfrm>
          <a:prstGeom prst="rect">
            <a:avLst/>
          </a:prstGeom>
          <a:noFill/>
        </p:spPr>
        <p:txBody>
          <a:bodyPr wrap="none" rtlCol="0">
            <a:spAutoFit/>
          </a:bodyPr>
          <a:lstStyle/>
          <a:p>
            <a:r>
              <a:rPr lang="en-IN" dirty="0"/>
              <a:t>Day – 3,4,5</a:t>
            </a:r>
          </a:p>
        </p:txBody>
      </p:sp>
      <p:sp>
        <p:nvSpPr>
          <p:cNvPr id="11" name="TextBox 10">
            <a:extLst>
              <a:ext uri="{FF2B5EF4-FFF2-40B4-BE49-F238E27FC236}">
                <a16:creationId xmlns:a16="http://schemas.microsoft.com/office/drawing/2014/main" id="{0C606F09-9424-FC11-3B7D-41BB2E1193EF}"/>
              </a:ext>
            </a:extLst>
          </p:cNvPr>
          <p:cNvSpPr txBox="1"/>
          <p:nvPr/>
        </p:nvSpPr>
        <p:spPr>
          <a:xfrm>
            <a:off x="639106" y="2991794"/>
            <a:ext cx="9212452" cy="369332"/>
          </a:xfrm>
          <a:prstGeom prst="rect">
            <a:avLst/>
          </a:prstGeom>
          <a:noFill/>
        </p:spPr>
        <p:txBody>
          <a:bodyPr wrap="square">
            <a:spAutoFit/>
          </a:bodyPr>
          <a:lstStyle/>
          <a:p>
            <a:r>
              <a:rPr lang="en-IN" dirty="0">
                <a:hlinkClick r:id="rId2"/>
              </a:rPr>
              <a:t>https://colab.research.google.com/drive/1u3DRWv4cAl8vzvjk9OkbTsjWfJwu6cme?usp=sharing</a:t>
            </a:r>
            <a:r>
              <a:rPr lang="en-IN" dirty="0"/>
              <a:t> </a:t>
            </a:r>
          </a:p>
        </p:txBody>
      </p:sp>
      <p:sp>
        <p:nvSpPr>
          <p:cNvPr id="13" name="TextBox 12">
            <a:extLst>
              <a:ext uri="{FF2B5EF4-FFF2-40B4-BE49-F238E27FC236}">
                <a16:creationId xmlns:a16="http://schemas.microsoft.com/office/drawing/2014/main" id="{5888917E-B3B7-CFD0-3E6C-E6E936A3CDBC}"/>
              </a:ext>
            </a:extLst>
          </p:cNvPr>
          <p:cNvSpPr txBox="1"/>
          <p:nvPr/>
        </p:nvSpPr>
        <p:spPr>
          <a:xfrm>
            <a:off x="639106" y="1851008"/>
            <a:ext cx="9018602" cy="369332"/>
          </a:xfrm>
          <a:prstGeom prst="rect">
            <a:avLst/>
          </a:prstGeom>
          <a:noFill/>
        </p:spPr>
        <p:txBody>
          <a:bodyPr wrap="square">
            <a:spAutoFit/>
          </a:bodyPr>
          <a:lstStyle/>
          <a:p>
            <a:r>
              <a:rPr lang="en-IN" dirty="0">
                <a:hlinkClick r:id="rId3"/>
              </a:rPr>
              <a:t>https://colab.research.google.com/drive/1C8j9Jrj2GGlwfGPr_RpEhK3_ry6LCkm0?usp=sharing</a:t>
            </a:r>
            <a:r>
              <a:rPr lang="en-IN" dirty="0"/>
              <a:t> </a:t>
            </a:r>
          </a:p>
        </p:txBody>
      </p:sp>
    </p:spTree>
    <p:extLst>
      <p:ext uri="{BB962C8B-B14F-4D97-AF65-F5344CB8AC3E}">
        <p14:creationId xmlns:p14="http://schemas.microsoft.com/office/powerpoint/2010/main" val="218456681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2816</TotalTime>
  <Words>1225</Words>
  <Application>Microsoft Office PowerPoint</Application>
  <PresentationFormat>Widescreen</PresentationFormat>
  <Paragraphs>164</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Gill Sans MT</vt:lpstr>
      <vt:lpstr>Gallery</vt:lpstr>
      <vt:lpstr>PowerPoint Presentation</vt:lpstr>
      <vt:lpstr>PowerPoint Presentation</vt:lpstr>
      <vt:lpstr>DATA DESCRIPTION</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Rithika Kolachalama</dc:creator>
  <cp:lastModifiedBy>Nandita Chavali</cp:lastModifiedBy>
  <cp:revision>18</cp:revision>
  <dcterms:created xsi:type="dcterms:W3CDTF">2024-07-06T08:18:53Z</dcterms:created>
  <dcterms:modified xsi:type="dcterms:W3CDTF">2024-09-20T06:53:05Z</dcterms:modified>
</cp:coreProperties>
</file>